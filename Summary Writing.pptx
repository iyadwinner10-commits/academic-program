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8603" autoAdjust="0"/>
    <p:restoredTop sz="94721" autoAdjust="0"/>
  </p:normalViewPr>
  <p:slideViewPr>
    <p:cSldViewPr>
      <p:cViewPr>
        <p:scale>
          <a:sx n="75" d="100"/>
          <a:sy n="75" d="100"/>
        </p:scale>
        <p:origin x="-1978" y="-3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/>
        </p:spPr>
        <p:txBody>
          <a:bodyPr bIns="45720" lIns="91440" rIns="91440" rtlCol="1" tIns="45720" vert="horz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1048674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/>
        </p:spPr>
        <p:txBody>
          <a:bodyPr bIns="45720" lIns="91440" rIns="91440" rtlCol="1" tIns="45720" vert="horz"/>
          <a:lstStyle>
            <a:lvl1pPr algn="l">
              <a:defRPr sz="1200"/>
            </a:lvl1pPr>
          </a:lstStyle>
          <a:p>
            <a:fld id="{D3A5B316-9F77-446B-BB27-64D4C294C394}" type="datetimeFigureOut">
              <a:rPr lang="ar-EG" smtClean="0"/>
              <a:t>19/02/1443</a:t>
            </a:fld>
            <a:endParaRPr lang="ar-EG"/>
          </a:p>
        </p:txBody>
      </p:sp>
      <p:sp>
        <p:nvSpPr>
          <p:cNvPr id="104867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1" tIns="45720" vert="horz"/>
          <a:p>
            <a:endParaRPr lang="ar-EG"/>
          </a:p>
        </p:txBody>
      </p:sp>
      <p:sp>
        <p:nvSpPr>
          <p:cNvPr id="104867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1" tIns="45720" vert="horz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104867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/>
        </p:spPr>
        <p:txBody>
          <a:bodyPr anchor="b" bIns="45720" lIns="91440" rIns="91440" rtlCol="1" tIns="45720" vert="horz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104867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/>
        </p:spPr>
        <p:txBody>
          <a:bodyPr anchor="b" bIns="45720" lIns="91440" rIns="91440" rtlCol="1" tIns="45720" vert="horz"/>
          <a:lstStyle>
            <a:lvl1pPr algn="l">
              <a:defRPr sz="1200"/>
            </a:lvl1pPr>
          </a:lstStyle>
          <a:p>
            <a:fld id="{528EC2DA-866C-4B17-8D2C-9B6A450847DA}" type="slidenum">
              <a:rPr lang="ar-EG" smtClean="0"/>
              <a:t>‹#›</a:t>
            </a:fld>
            <a:endParaRPr lang="ar-EG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r" defTabSz="914400" eaLnBrk="1" hangingPunct="1" latinLnBrk="0" marL="0" rtl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r" defTabSz="914400" eaLnBrk="1" hangingPunct="1" latinLnBrk="0" marL="457200" rtl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r" defTabSz="914400" eaLnBrk="1" hangingPunct="1" latinLnBrk="0" marL="914400" rtl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r" defTabSz="914400" eaLnBrk="1" hangingPunct="1" latinLnBrk="0" marL="1371600" rtl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r" defTabSz="914400" eaLnBrk="1" hangingPunct="1" latinLnBrk="0" marL="1828800" rtl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r" defTabSz="914400" eaLnBrk="1" hangingPunct="1" latinLnBrk="0" marL="2286000" rtl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r" defTabSz="914400" eaLnBrk="1" hangingPunct="1" latinLnBrk="0" marL="2743200" rtl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r" defTabSz="914400" eaLnBrk="1" hangingPunct="1" latinLnBrk="0" marL="3200400" rtl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r" defTabSz="914400" eaLnBrk="1" hangingPunct="1" latinLnBrk="0" marL="3657600" rtl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10"/>
          <p:cNvSpPr/>
          <p:nvPr/>
        </p:nvSpPr>
        <p:spPr>
          <a:xfrm>
            <a:off x="0" y="3866920"/>
            <a:ext cx="9144000" cy="2991080"/>
          </a:xfrm>
          <a:prstGeom prst="rect"/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0" name="Rectangle 11"/>
          <p:cNvSpPr/>
          <p:nvPr/>
        </p:nvSpPr>
        <p:spPr>
          <a:xfrm>
            <a:off x="0" y="0"/>
            <a:ext cx="9144000" cy="3866920"/>
          </a:xfrm>
          <a:prstGeom prst="rect"/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1" name="Rectangle 12"/>
          <p:cNvSpPr/>
          <p:nvPr/>
        </p:nvSpPr>
        <p:spPr>
          <a:xfrm>
            <a:off x="0" y="2652311"/>
            <a:ext cx="9144000" cy="2286000"/>
          </a:xfrm>
          <a:prstGeom prst="rect"/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2" name="Oval 13"/>
          <p:cNvSpPr/>
          <p:nvPr/>
        </p:nvSpPr>
        <p:spPr>
          <a:xfrm>
            <a:off x="0" y="1600200"/>
            <a:ext cx="9144000" cy="5105400"/>
          </a:xfrm>
          <a:prstGeom prst="ellipse"/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algn="l" indent="0" marL="0">
              <a:buNone/>
              <a:defRPr sz="2200">
                <a:solidFill>
                  <a:schemeClr val="tx2"/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 lang="en-US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  <p:sp>
        <p:nvSpPr>
          <p:cNvPr id="1048627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algn="l" indent="-457200" marL="640080">
              <a:defRPr sz="54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</p:spTree>
  </p:cSld>
  <p:clrMapOvr>
    <a:masterClrMapping/>
  </p:clrMapOvr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  <p:sp>
        <p:nvSpPr>
          <p:cNvPr id="1048636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</p:spTree>
  </p:cSld>
  <p:clrMapOvr>
    <a:masterClrMapping/>
  </p:clrMapOvr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6"/>
          <p:cNvSpPr/>
          <p:nvPr/>
        </p:nvSpPr>
        <p:spPr>
          <a:xfrm>
            <a:off x="0" y="3866920"/>
            <a:ext cx="9144000" cy="2991080"/>
          </a:xfrm>
          <a:prstGeom prst="rect"/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7" name="Rectangle 7"/>
          <p:cNvSpPr/>
          <p:nvPr/>
        </p:nvSpPr>
        <p:spPr>
          <a:xfrm>
            <a:off x="0" y="0"/>
            <a:ext cx="9144000" cy="3866920"/>
          </a:xfrm>
          <a:prstGeom prst="rect"/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98" name="Rectangle 8"/>
          <p:cNvSpPr/>
          <p:nvPr/>
        </p:nvSpPr>
        <p:spPr>
          <a:xfrm>
            <a:off x="0" y="2652311"/>
            <a:ext cx="9144000" cy="2286000"/>
          </a:xfrm>
          <a:prstGeom prst="rect"/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9" name="Oval 9"/>
          <p:cNvSpPr/>
          <p:nvPr/>
        </p:nvSpPr>
        <p:spPr>
          <a:xfrm>
            <a:off x="0" y="1600200"/>
            <a:ext cx="9144000" cy="5105400"/>
          </a:xfrm>
          <a:prstGeom prst="ellipse"/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baseline="0" b="1" cap="none" sz="46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01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algn="r" indent="0" marL="0">
              <a:buNone/>
              <a:defRPr sz="2000">
                <a:solidFill>
                  <a:schemeClr val="tx2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  <p:sp>
        <p:nvSpPr>
          <p:cNvPr id="1048656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7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8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algn="ctr" indent="0" marL="0">
              <a:buNone/>
              <a:defRPr b="1" dirty="0" sz="2400" i="0" kern="1200" lang="en-US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0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6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algn="ctr" indent="0" marL="0">
              <a:buNone/>
              <a:defRPr b="1" dirty="0" sz="2400" i="0" kern="1200" lang="en-US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algn="ctr" defTabSz="914400" eaLnBrk="1" hangingPunct="1" indent="0" latinLnBrk="0" lvl="0" marL="0" rtl="0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4866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6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6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  <p:sp>
        <p:nvSpPr>
          <p:cNvPr id="1048666" name="Title 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</p:spTree>
  </p:cSld>
  <p:clrMapOvr>
    <a:masterClrMapping/>
  </p:clrMapOvr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58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58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59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algn="l" indent="-228600" marL="228600">
              <a:defRPr b="1" sz="2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69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7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Rectangle 7"/>
          <p:cNvSpPr/>
          <p:nvPr/>
        </p:nvSpPr>
        <p:spPr>
          <a:xfrm>
            <a:off x="0" y="3866920"/>
            <a:ext cx="9144000" cy="2991080"/>
          </a:xfrm>
          <a:prstGeom prst="rect"/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9" name="Rectangle 8"/>
          <p:cNvSpPr/>
          <p:nvPr/>
        </p:nvSpPr>
        <p:spPr>
          <a:xfrm>
            <a:off x="0" y="0"/>
            <a:ext cx="9144000" cy="3866920"/>
          </a:xfrm>
          <a:prstGeom prst="rect"/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40" name="Rectangle 9"/>
          <p:cNvSpPr/>
          <p:nvPr/>
        </p:nvSpPr>
        <p:spPr>
          <a:xfrm>
            <a:off x="0" y="2652311"/>
            <a:ext cx="9144000" cy="2286000"/>
          </a:xfrm>
          <a:prstGeom prst="rect"/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1" name="Oval 10"/>
          <p:cNvSpPr/>
          <p:nvPr/>
        </p:nvSpPr>
        <p:spPr>
          <a:xfrm>
            <a:off x="0" y="1600200"/>
            <a:ext cx="9144000" cy="5105400"/>
          </a:xfrm>
          <a:prstGeom prst="ellipse"/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2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algn="bl" blurRad="4350" dir="5400000" endA="300" endPos="28000" rotWithShape="0" stA="23000" sy="-100000"/>
          </a:effectLst>
          <a:scene3d>
            <a:camera prst="perspectiveContrastingLeftFacing" fov="1800000">
              <a:rot lat="300000" lon="2100000" rev="0"/>
            </a:camera>
            <a:lightRig dir="t" rig="balanced"/>
          </a:scene3d>
          <a:sp3d>
            <a:bevelT w="50800" h="50800"/>
          </a:sp3d>
        </p:spPr>
        <p:txBody>
          <a:bodyPr>
            <a:normAutofit/>
            <a:flatTx z="0"/>
          </a:bodyPr>
          <a:lstStyle>
            <a:lvl1pPr algn="ctr" indent="0" marL="0">
              <a:buNone/>
              <a:defRPr sz="20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 lang="en-US"/>
          </a:p>
        </p:txBody>
      </p:sp>
      <p:sp>
        <p:nvSpPr>
          <p:cNvPr id="1048643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indent="-182880" marL="182880">
              <a:buFont typeface="Georgia" pitchFamily="18" charset="0"/>
              <a:buChar char="*"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b="1" sz="46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</p:spTree>
  </p:cSld>
  <p:clrMapOvr>
    <a:masterClrMapping/>
  </p:clrMapOvr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0" y="5105400"/>
            <a:ext cx="9144000" cy="1752600"/>
          </a:xfrm>
          <a:prstGeom prst="rect"/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77" name="Rectangle 7"/>
          <p:cNvSpPr/>
          <p:nvPr/>
        </p:nvSpPr>
        <p:spPr>
          <a:xfrm>
            <a:off x="0" y="0"/>
            <a:ext cx="9144000" cy="5105400"/>
          </a:xfrm>
          <a:prstGeom prst="rect"/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78" name="Rectangle 8"/>
          <p:cNvSpPr/>
          <p:nvPr/>
        </p:nvSpPr>
        <p:spPr>
          <a:xfrm>
            <a:off x="0" y="3768304"/>
            <a:ext cx="9144000" cy="2286000"/>
          </a:xfrm>
          <a:prstGeom prst="rect"/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79" name="Oval 9"/>
          <p:cNvSpPr/>
          <p:nvPr/>
        </p:nvSpPr>
        <p:spPr>
          <a:xfrm>
            <a:off x="0" y="1600200"/>
            <a:ext cx="9144000" cy="5105400"/>
          </a:xfrm>
          <a:prstGeom prst="ellipse"/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0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/>
          <a:effectLst/>
        </p:spPr>
        <p:txBody>
          <a:bodyPr anchor="t" anchorCtr="0" bIns="45720" lIns="91440" rIns="91440" rtlCol="0" tIns="45720" vert="horz">
            <a:noAutofit/>
          </a:bodyPr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581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582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b="1"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65AFC6-794C-4A58-B3FA-0C068B8F5FBC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104858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b="1"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b="1"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75A811B-1C13-446B-8681-0973F695A200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/>
  <p:txStyles>
    <p:titleStyle>
      <a:lvl1pPr algn="r" defTabSz="914400" eaLnBrk="1" hangingPunct="1" indent="-320040" latinLnBrk="0" marL="320040" rtl="0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b="1" sz="4600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algn="bl" blurRad="6350" dir="5400000" endA="300" endPos="45500" rotWithShape="0" stA="55000" sy="-10000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914400" eaLnBrk="1" hangingPunct="1" indent="-182880" latinLnBrk="0" marL="228600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182880" latinLnBrk="0" marL="548640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182880" latinLnBrk="0" marL="822960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182880" latinLnBrk="0" marL="1097280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182880" latinLnBrk="0" marL="1389888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182880" latinLnBrk="0" marL="1664208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914400" eaLnBrk="1" hangingPunct="1" indent="-182880" latinLnBrk="0" marL="1965960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914400" eaLnBrk="1" hangingPunct="1" indent="-182880" latinLnBrk="0" marL="2286000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914400" eaLnBrk="1" hangingPunct="1" indent="-182880" latinLnBrk="0" marL="2587752" rtl="0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>
          <a:xfrm>
            <a:off x="426720" y="482992"/>
            <a:ext cx="8209280" cy="814968"/>
          </a:xfrm>
        </p:spPr>
        <p:txBody>
          <a:bodyPr/>
          <a:p>
            <a:pPr algn="ctr" indent="0" marL="0">
              <a:buNone/>
            </a:pPr>
            <a:r>
              <a:rPr dirty="0" sz="4800" lang="en-US" smtClean="0">
                <a:latin typeface="Times New Roman" pitchFamily="18" charset="0"/>
                <a:cs typeface="Times New Roman" pitchFamily="18" charset="0"/>
              </a:rPr>
              <a:t>Summary</a:t>
            </a:r>
            <a:endParaRPr dirty="0" lang="ar-EG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0" name="Title 1"/>
          <p:cNvSpPr txBox="1"/>
          <p:nvPr/>
        </p:nvSpPr>
        <p:spPr>
          <a:xfrm>
            <a:off x="386080" y="1813952"/>
            <a:ext cx="8209280" cy="1803008"/>
          </a:xfrm>
          <a:prstGeom prst="rect"/>
          <a:effectLst/>
        </p:spPr>
        <p:txBody>
          <a:bodyPr anchor="t" anchorCtr="0" bIns="45720" lIns="91440" rIns="91440" rtlCol="0" tIns="45720" vert="horz">
            <a:noAutofit/>
          </a:bodyPr>
          <a:lstStyle>
            <a:lvl1pPr algn="r" defTabSz="914400" eaLnBrk="1" hangingPunct="1" indent="-320040" latinLnBrk="0" marL="320040" rtl="0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b="1" sz="4600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algn="bl" blurRad="6350" dir="5400000" endA="300" endPos="45500" rotWithShape="0" stA="55000" sy="-10000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indent="0" marL="0">
              <a:buFont typeface="Georgia" pitchFamily="18" charset="0"/>
              <a:buNone/>
            </a:pPr>
            <a:endParaRPr dirty="0" lang="ar-EG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1" name="Title 1"/>
          <p:cNvSpPr txBox="1"/>
          <p:nvPr/>
        </p:nvSpPr>
        <p:spPr>
          <a:xfrm>
            <a:off x="355600" y="1980116"/>
            <a:ext cx="8209280" cy="814968"/>
          </a:xfrm>
          <a:prstGeom prst="rect"/>
          <a:effectLst/>
        </p:spPr>
        <p:txBody>
          <a:bodyPr anchor="t" anchorCtr="0" bIns="45720" lIns="91440" rIns="91440" rtlCol="0" tIns="45720" vert="horz">
            <a:noAutofit/>
          </a:bodyPr>
          <a:lstStyle>
            <a:lvl1pPr algn="r" defTabSz="914400" eaLnBrk="1" hangingPunct="1" indent="-320040" latinLnBrk="0" marL="320040" rtl="0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b="1" sz="4600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algn="bl" blurRad="6350" dir="5400000" endA="300" endPos="45500" rotWithShape="0" stA="55000" sy="-10000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indent="0" marL="0">
              <a:buFont typeface="Georgia" pitchFamily="18" charset="0"/>
              <a:buNone/>
            </a:pP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What is a summary?</a:t>
            </a:r>
            <a:endParaRPr dirty="0" sz="3600" lang="ar-EG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483768" y="3003798"/>
            <a:ext cx="3161506" cy="316150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prism isContent="1"/>
      </p:transition>
    </mc:Choice>
    <mc:Fallback>
      <p:transition spd="slow">
        <p:fade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Rectangle 1"/>
          <p:cNvSpPr/>
          <p:nvPr/>
        </p:nvSpPr>
        <p:spPr>
          <a:xfrm>
            <a:off x="539552" y="188640"/>
            <a:ext cx="8005008" cy="6301740"/>
          </a:xfrm>
          <a:prstGeom prst="rect"/>
        </p:spPr>
        <p:txBody>
          <a:bodyPr wrap="square">
            <a:spAutoFit/>
          </a:bodyPr>
          <a:p>
            <a:r>
              <a:rPr dirty="0" sz="3200" lang="en-US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- A summary </a:t>
            </a: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is a shortened version of an original text or passage.</a:t>
            </a:r>
          </a:p>
          <a:p>
            <a:pPr indent="-457200" marL="457200">
              <a:buFontTx/>
              <a:buChar char="-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According to </a:t>
            </a:r>
            <a:r>
              <a:rPr dirty="0" sz="3200" lang="en-US" err="1" smtClean="0">
                <a:latin typeface="Times New Roman" pitchFamily="18" charset="0"/>
                <a:cs typeface="Times New Roman" pitchFamily="18" charset="0"/>
              </a:rPr>
              <a:t>Langan</a:t>
            </a:r>
            <a:r>
              <a:rPr dirty="0" sz="3200" lang="en-US">
                <a:latin typeface="Times New Roman" pitchFamily="18" charset="0"/>
                <a:cs typeface="Times New Roman" pitchFamily="18" charset="0"/>
              </a:rPr>
              <a:t>, a </a:t>
            </a:r>
            <a:r>
              <a:rPr dirty="0" sz="32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r>
              <a:rPr dirty="0" sz="3200" lang="en-US">
                <a:latin typeface="Times New Roman" pitchFamily="18" charset="0"/>
                <a:cs typeface="Times New Roman" pitchFamily="18" charset="0"/>
              </a:rPr>
              <a:t> is “the reduction of a large amount of information to its most important </a:t>
            </a: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points.” </a:t>
            </a:r>
          </a:p>
          <a:p>
            <a:pPr indent="-457200" marL="457200">
              <a:buFontTx/>
              <a:buChar char="-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It aims to share the main idea by eliminating irrelevant details.</a:t>
            </a:r>
          </a:p>
          <a:p>
            <a:pPr indent="-457200" marL="457200">
              <a:buFontTx/>
              <a:buChar char="-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The tone of the original piece must be maintained by avoiding opinions.</a:t>
            </a:r>
          </a:p>
          <a:p>
            <a:pPr indent="-457200" marL="457200">
              <a:buFontTx/>
              <a:buChar char="-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It retains the essential information of the original.</a:t>
            </a:r>
          </a:p>
          <a:p>
            <a:endParaRPr dirty="0" sz="2800" lang="en-US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400">
        <p14:reveal/>
      </p:transition>
    </mc:Choice>
    <mc:Fallback>
      <p:transition spd="slow">
        <p:fade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2"/>
          <p:cNvSpPr>
            <a:spLocks noGrp="1"/>
          </p:cNvSpPr>
          <p:nvPr>
            <p:ph type="body" idx="1"/>
          </p:nvPr>
        </p:nvSpPr>
        <p:spPr>
          <a:xfrm>
            <a:off x="612608" y="1412776"/>
            <a:ext cx="8531392" cy="5040560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- It is a brief restatement– in your own words of the contents of the source text.</a:t>
            </a:r>
          </a:p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 - You simply report back what the writer has said without making value judgments. </a:t>
            </a:r>
          </a:p>
          <a:p>
            <a:pPr algn="l" indent="-457200" marL="457200">
              <a:buFontTx/>
              <a:buChar char="-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Filter out the information from your general passage.</a:t>
            </a:r>
          </a:p>
          <a:p>
            <a:pPr algn="l" indent="-457200" marL="457200">
              <a:buFontTx/>
              <a:buChar char="-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Eliminate all examples and supporting ideas. </a:t>
            </a:r>
            <a:endParaRPr dirty="0" sz="3200" 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ext Placeholder 2"/>
          <p:cNvSpPr>
            <a:spLocks noGrp="1"/>
          </p:cNvSpPr>
          <p:nvPr>
            <p:ph type="body" idx="1"/>
          </p:nvPr>
        </p:nvSpPr>
        <p:spPr>
          <a:xfrm>
            <a:off x="612608" y="1412776"/>
            <a:ext cx="8531392" cy="5040560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6 STEPS FOR WRITING A SUMMARY</a:t>
            </a:r>
          </a:p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Find the main idea</a:t>
            </a:r>
          </a:p>
          <a:p>
            <a:pPr algn="l" indent="-514350" marL="514350">
              <a:buAutoNum type="arabicPeriod"/>
            </a:pPr>
            <a:r>
              <a:rPr dirty="0" sz="32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Find the supporting details</a:t>
            </a:r>
          </a:p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Write summary sentences</a:t>
            </a:r>
          </a:p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Combine main idea with summary sentences</a:t>
            </a:r>
          </a:p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Re-read and edit</a:t>
            </a:r>
          </a:p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Check final draft</a:t>
            </a:r>
            <a:endParaRPr dirty="0" sz="3200" 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ext Placeholder 2"/>
          <p:cNvSpPr>
            <a:spLocks noGrp="1"/>
          </p:cNvSpPr>
          <p:nvPr>
            <p:ph type="body" idx="1"/>
          </p:nvPr>
        </p:nvSpPr>
        <p:spPr>
          <a:xfrm>
            <a:off x="612608" y="1412776"/>
            <a:ext cx="8531392" cy="5040560"/>
          </a:xfrm>
        </p:spPr>
        <p:txBody>
          <a:bodyPr>
            <a:normAutofit/>
          </a:bodyPr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Find the main idea</a:t>
            </a:r>
          </a:p>
          <a:p>
            <a:pPr algn="l" indent="-457200" marL="457200">
              <a:buFontTx/>
              <a:buChar char="-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Read the passage the first time for understanding.</a:t>
            </a:r>
          </a:p>
          <a:p>
            <a:pPr algn="l" indent="-457200" marL="457200">
              <a:buFontTx/>
              <a:buChar char="-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Ask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yourself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, “ What was the passage about?”</a:t>
            </a:r>
          </a:p>
          <a:p>
            <a:pPr algn="l" indent="-457200" marL="457200">
              <a:buFontTx/>
              <a:buChar char="-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Hint: if you are having problems, scan the passage to seen which ‘Topic’  word appears most often .This is likely the topic of the passage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Know you have to figure out what is being said about the topic.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Placeholder 2"/>
          <p:cNvSpPr>
            <a:spLocks noGrp="1"/>
          </p:cNvSpPr>
          <p:nvPr>
            <p:ph type="body" idx="1"/>
          </p:nvPr>
        </p:nvSpPr>
        <p:spPr>
          <a:xfrm>
            <a:off x="612608" y="1412776"/>
            <a:ext cx="8531392" cy="3321784"/>
          </a:xfrm>
        </p:spPr>
        <p:txBody>
          <a:bodyPr>
            <a:normAutofit/>
          </a:bodyPr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Find the main idea</a:t>
            </a:r>
          </a:p>
          <a:p>
            <a:pPr algn="l"/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Read the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passage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a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second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time.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What is the overall point being made about the topic word?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You need to be able to see the ‘big picture’ being presented by the passage.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This is the main idea of the whole passage; write it down.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/>
            <a:endParaRPr dirty="0" sz="3200" 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ext Placeholder 2"/>
          <p:cNvSpPr>
            <a:spLocks noGrp="1"/>
          </p:cNvSpPr>
          <p:nvPr>
            <p:ph type="body" idx="1"/>
          </p:nvPr>
        </p:nvSpPr>
        <p:spPr>
          <a:xfrm>
            <a:off x="612608" y="1412776"/>
            <a:ext cx="8531392" cy="5328592"/>
          </a:xfrm>
        </p:spPr>
        <p:txBody>
          <a:bodyPr>
            <a:normAutofit/>
          </a:bodyPr>
          <a:p>
            <a:pPr algn="l" indent="-514350" marL="514350">
              <a:buAutoNum type="arabicPeriod"/>
            </a:pP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Find the main idea</a:t>
            </a:r>
          </a:p>
          <a:p>
            <a:pPr algn="l"/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Avoid irrelevant information. These are usually the elaborating details which support the main idea. </a:t>
            </a:r>
            <a:r>
              <a:rPr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FEDS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is one way to help you to identify what these are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l"/>
            <a:r>
              <a:rPr b="1" dirty="0" sz="2400" lang="en-US" smtClean="0">
                <a:latin typeface="Times New Roman" pitchFamily="18" charset="0"/>
                <a:cs typeface="Times New Roman" pitchFamily="18" charset="0"/>
              </a:rPr>
              <a:t>MORE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                                                      </a:t>
            </a:r>
            <a:r>
              <a:rPr b="1" dirty="0" sz="2400" lang="en-US" smtClean="0">
                <a:latin typeface="Times New Roman" pitchFamily="18" charset="0"/>
                <a:cs typeface="Times New Roman" pitchFamily="18" charset="0"/>
              </a:rPr>
              <a:t>FEDS</a:t>
            </a:r>
            <a:endParaRPr b="1"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AutoNum type="arabicPeriod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Minor details                                       5. Figure of speech</a:t>
            </a:r>
          </a:p>
          <a:p>
            <a:pPr algn="l" indent="-457200" marL="457200">
              <a:buAutoNum type="arabicPeriod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Opinions                                              6. Evaluations</a:t>
            </a:r>
          </a:p>
          <a:p>
            <a:pPr algn="l" indent="-457200" marL="457200">
              <a:buAutoNum type="arabicPeriod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Repetitions                                          7. Dialogue/</a:t>
            </a:r>
            <a:r>
              <a:rPr dirty="0" sz="2400" lang="en-US" err="1" smtClean="0">
                <a:latin typeface="Times New Roman" pitchFamily="18" charset="0"/>
                <a:cs typeface="Times New Roman" pitchFamily="18" charset="0"/>
              </a:rPr>
              <a:t>Quatations</a:t>
            </a:r>
            <a:endParaRPr dirty="0" sz="2400" lang="en-US" smtClean="0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AutoNum type="arabicPeriod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Examples                                            8. Statistical data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/>
            <a:endParaRPr dirty="0" sz="3200" 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ext Placeholder 2"/>
          <p:cNvSpPr>
            <a:spLocks noGrp="1"/>
          </p:cNvSpPr>
          <p:nvPr>
            <p:ph type="body" idx="1"/>
          </p:nvPr>
        </p:nvSpPr>
        <p:spPr>
          <a:xfrm>
            <a:off x="612608" y="1412776"/>
            <a:ext cx="8531392" cy="2952328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2. Find the supporting details</a:t>
            </a:r>
          </a:p>
          <a:p>
            <a:pPr algn="l"/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Supporting ideas are used to develop, explain or expand on the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main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idea.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While “skimming” (quickly reading through) the passage for the third time, look for the supporting ideas by reading over the opening sentences of the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paragraphs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. 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ext Placeholder 2"/>
          <p:cNvSpPr>
            <a:spLocks noGrp="1"/>
          </p:cNvSpPr>
          <p:nvPr>
            <p:ph type="body" idx="1"/>
          </p:nvPr>
        </p:nvSpPr>
        <p:spPr>
          <a:xfrm>
            <a:off x="539552" y="1268760"/>
            <a:ext cx="8531392" cy="4176464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3. Write summary sentences 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After reading the passage for the third time, write one or two summary sentences for each paragraph describing the main idea that you see expressed by the paragraph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If you see yourself repeating the same ideas, you will need to read the passage again to get a clearer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picture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and then revise your summary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sentences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Placeholder 2"/>
          <p:cNvSpPr>
            <a:spLocks noGrp="1"/>
          </p:cNvSpPr>
          <p:nvPr>
            <p:ph type="body" idx="1"/>
          </p:nvPr>
        </p:nvSpPr>
        <p:spPr>
          <a:xfrm>
            <a:off x="356672" y="577880"/>
            <a:ext cx="8531392" cy="4491960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4. Combine the main idea with summary sentences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Join together the main idea of the passage and your paragraph summary sentences by using transitional words and/ or phrases.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These transitional words/ phrases do three things: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+mj-lt"/>
              <a:buAutoNum type="arabicParenR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They give your summary a sense of being a “whole”- not just a group of unconnected sentences. </a:t>
            </a:r>
          </a:p>
          <a:p>
            <a:pPr algn="l" indent="-457200" marL="457200">
              <a:buFont typeface="+mj-lt"/>
              <a:buAutoNum type="arabicParenR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They also make your summary “flow” smoothly when reading.</a:t>
            </a:r>
          </a:p>
          <a:p>
            <a:pPr algn="l" indent="-457200" marL="457200">
              <a:buFont typeface="+mj-lt"/>
              <a:buAutoNum type="arabicParenR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They reinforce and support the main idea being expressed in the passage.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ext Placeholder 2"/>
          <p:cNvSpPr>
            <a:spLocks noGrp="1"/>
          </p:cNvSpPr>
          <p:nvPr>
            <p:ph type="body" idx="1"/>
          </p:nvPr>
        </p:nvSpPr>
        <p:spPr>
          <a:xfrm>
            <a:off x="356672" y="577880"/>
            <a:ext cx="8531392" cy="5955000"/>
          </a:xfrm>
        </p:spPr>
        <p:txBody>
          <a:bodyPr>
            <a:normAutofit/>
          </a:bodyPr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53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67544" y="589280"/>
            <a:ext cx="8352928" cy="5882640"/>
          </a:xfrm>
          <a:prstGeom prst="rect"/>
        </p:spPr>
      </p:pic>
    </p:spTree>
  </p:cSld>
  <p:clrMapOvr>
    <a:masterClrMapping/>
  </p:clrMapOvr>
  <p:transition spd="slow">
    <p:randomBar dir="vert"/>
  </p:transition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323528" y="332656"/>
            <a:ext cx="8531392" cy="6423744"/>
          </a:xfrm>
        </p:spPr>
        <p:txBody>
          <a:bodyPr>
            <a:normAutofit/>
          </a:bodyPr>
          <a:p>
            <a:pPr algn="l"/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Re-read and edit</a:t>
            </a:r>
          </a:p>
          <a:p>
            <a:pPr algn="l" indent="-342900" marL="3429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Reread( and edit if necessary) the summary to make sure it clear and to the point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342900" marL="3429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Eliminate the repetitive words, too many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descriptive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words and non-essential words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342900" marL="3429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Pay attention to the word limit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 smtClean="0">
              <a:latin typeface="Times New Roman" pitchFamily="18" charset="0"/>
              <a:cs typeface="Times New Roman" pitchFamily="18" charset="0"/>
            </a:endParaRPr>
          </a:p>
          <a:p>
            <a:pPr algn="l" indent="-342900" marL="342900">
              <a:buFont typeface="Arial" pitchFamily="34" charset="0"/>
              <a:buChar char="•"/>
            </a:pP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final version should read like a whole, sensible piece of writing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342900" marL="3429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Remember to check your grammar and spelling.</a:t>
            </a:r>
          </a:p>
        </p:txBody>
      </p:sp>
    </p:spTree>
  </p:cSld>
  <p:clrMapOvr>
    <a:masterClrMapping/>
  </p:clrMapOvr>
  <p:transition spd="slow">
    <p:randomBar dir="vert"/>
  </p:transition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323528" y="332656"/>
            <a:ext cx="8531392" cy="4107264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6. Check the final draft</a:t>
            </a:r>
          </a:p>
          <a:p>
            <a:pPr algn="l"/>
            <a:endParaRPr dirty="0" sz="3200" lang="en-US" smtClean="0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Finally, check your summary against the author’s original.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Have you correctly described the author’s main idea and the essential supporting points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Make any necessary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adjustments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or changes to your summary.  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ext Placeholder 2"/>
          <p:cNvSpPr>
            <a:spLocks noGrp="1"/>
          </p:cNvSpPr>
          <p:nvPr>
            <p:ph type="body" idx="1"/>
          </p:nvPr>
        </p:nvSpPr>
        <p:spPr>
          <a:xfrm>
            <a:off x="251520" y="363136"/>
            <a:ext cx="8531392" cy="6494864"/>
          </a:xfrm>
        </p:spPr>
        <p:txBody>
          <a:bodyPr>
            <a:normAutofit/>
          </a:bodyPr>
          <a:p>
            <a:pPr algn="ctr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Paraphrasing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Paraphrasing = restating in your own words what another person has said or written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In other words, paraphrasing is the ability to write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your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own version of the essential information without changing the meaning and the facts of the original text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You can paraphrase by changing the word forms or using synonyms and changing clause or phrase structure.</a:t>
            </a:r>
          </a:p>
          <a:p>
            <a:pPr algn="l"/>
            <a:endParaRPr dirty="0" sz="3200" lang="en-US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 Placeholder 2"/>
          <p:cNvSpPr>
            <a:spLocks noGrp="1"/>
          </p:cNvSpPr>
          <p:nvPr>
            <p:ph type="body" idx="1"/>
          </p:nvPr>
        </p:nvSpPr>
        <p:spPr>
          <a:xfrm>
            <a:off x="251520" y="363136"/>
            <a:ext cx="8531392" cy="6494864"/>
          </a:xfrm>
        </p:spPr>
        <p:txBody>
          <a:bodyPr>
            <a:normAutofit/>
          </a:bodyPr>
          <a:p>
            <a:pPr algn="l"/>
            <a:r>
              <a:rPr dirty="0" sz="3200" lang="en-US" smtClean="0">
                <a:latin typeface="Times New Roman" pitchFamily="18" charset="0"/>
                <a:cs typeface="Times New Roman" pitchFamily="18" charset="0"/>
              </a:rPr>
              <a:t>Characteristics of a good summary</a:t>
            </a: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Can be understood without reference to the original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It is a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faithful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reproduction of or contains only the ideas or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original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Is brief without any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unnecessary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 detail</a:t>
            </a:r>
            <a:r>
              <a:rPr dirty="0" sz="2400"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dirty="0" sz="2400" lang="en-US">
              <a:latin typeface="Times New Roman" pitchFamily="18" charset="0"/>
              <a:cs typeface="Times New Roman" pitchFamily="18" charset="0"/>
            </a:endParaRPr>
          </a:p>
          <a:p>
            <a:pPr algn="l" indent="-457200" marL="457200">
              <a:buFont typeface="Arial" pitchFamily="34" charset="0"/>
              <a:buChar char="•"/>
            </a:pP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Is a readable unified whole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ransition spd="slow">
    <p:randomBar dir="vert"/>
  </p:transition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ext Placeholder 2"/>
          <p:cNvSpPr>
            <a:spLocks noGrp="1"/>
          </p:cNvSpPr>
          <p:nvPr>
            <p:ph type="body" idx="1"/>
          </p:nvPr>
        </p:nvSpPr>
        <p:spPr>
          <a:xfrm>
            <a:off x="251520" y="363136"/>
            <a:ext cx="8531392" cy="6494864"/>
          </a:xfrm>
        </p:spPr>
        <p:txBody>
          <a:bodyPr>
            <a:normAutofit/>
          </a:bodyPr>
          <a:p>
            <a:pPr algn="ctr"/>
            <a:endParaRPr dirty="0" sz="5400" lang="en-US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dirty="0" sz="5400" lang="en-US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sz="5400" lang="en-US" smtClean="0">
                <a:latin typeface="Times New Roman" pitchFamily="18" charset="0"/>
                <a:cs typeface="Times New Roman" pitchFamily="18" charset="0"/>
              </a:rPr>
              <a:t>Thank </a:t>
            </a:r>
            <a:r>
              <a:rPr dirty="0" sz="5400" lang="en-US" smtClean="0">
                <a:latin typeface="Times New Roman" pitchFamily="18" charset="0"/>
                <a:cs typeface="Times New Roman" pitchFamily="18" charset="0"/>
              </a:rPr>
              <a:t>you for listening</a:t>
            </a:r>
            <a:endParaRPr dirty="0" sz="5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Bar dir="vert"/>
  </p:transition>
  <p:timing/>
</p:sld>
</file>

<file path=ppt/theme/theme1.xml><?xml version="1.0" encoding="utf-8"?>
<a:theme xmlns:a="http://schemas.openxmlformats.org/drawingml/2006/main" name="Slipstream">
  <a:themeElements>
    <a:clrScheme name="Slipstream">
      <a:dk1>
        <a:sysClr lastClr="000000" val="windowText"/>
      </a:dk1>
      <a:lt1>
        <a:sysClr lastClr="FFFFFF" val="window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5400000" dist="50800" rotWithShape="0" sx="98000" sy="98000">
              <a:srgbClr val="000000">
                <a:alpha val="20000"/>
              </a:srgbClr>
            </a:outerShdw>
          </a:effectLst>
        </a:effectStyle>
        <a:effectStyle>
          <a:effectLst>
            <a:outerShdw blurRad="40005" dir="5400000" dist="22984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dir="tr" rig="balanced"/>
          </a:scene3d>
          <a:sp3d prstMaterial="matte">
            <a:bevelT w="19050" h="38100"/>
          </a:sp3d>
        </a:effectStyle>
        <a:effectStyle>
          <a:effectLst>
            <a:reflection blurRad="38100" dir="5400000" dist="25400" endPos="23000" rotWithShape="0" stA="26000" sy="-100000"/>
          </a:effectLst>
          <a:scene3d>
            <a:camera prst="orthographicFront">
              <a:rot lat="0" lon="0" rev="0"/>
            </a:camera>
            <a:lightRig dir="tr" rig="balanced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Resin bonded bridge</dc:title>
  <dc:creator>Fatama</dc:creator>
  <cp:lastModifiedBy>Successor</cp:lastModifiedBy>
  <dcterms:created xsi:type="dcterms:W3CDTF">2018-05-03T13:56:12Z</dcterms:created>
  <dcterms:modified xsi:type="dcterms:W3CDTF">2026-09-05T14:30:39Z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135a356d1b384d69a45c4a8b760191f1_23</vt:lpwstr>
  </property>
</Properties>
</file>
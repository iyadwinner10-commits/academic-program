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saveSubsetFonts="1" strictFirstAndLastChars="0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type="screen4x3" cy="6858000" cx="9144000"/>
  <p:notesSz cx="6858000" cy="9144000"/>
  <p:defaultTextStyle>
    <a:defPPr>
      <a:defRPr lang="en-US"/>
    </a:defPPr>
    <a:lvl1pPr algn="l" eaLnBrk="0" fontAlgn="base" hangingPunct="0" rtl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algn="l" eaLnBrk="0" fontAlgn="base" hangingPunct="0" marL="457200" rtl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algn="l" eaLnBrk="0" fontAlgn="base" hangingPunct="0" marL="914400" rtl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algn="l" eaLnBrk="0" fontAlgn="base" hangingPunct="0" marL="1371600" rtl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algn="l" eaLnBrk="0" fontAlgn="base" hangingPunct="0" marL="1828800" rtl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algn="l" defTabSz="914400" eaLnBrk="1" hangingPunct="1" latinLnBrk="0" marL="2286000" rtl="0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6pPr>
    <a:lvl7pPr algn="l" defTabSz="914400" eaLnBrk="1" hangingPunct="1" latinLnBrk="0" marL="2743200" rtl="0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7pPr>
    <a:lvl8pPr algn="l" defTabSz="914400" eaLnBrk="1" hangingPunct="1" latinLnBrk="0" marL="3200400" rtl="0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8pPr>
    <a:lvl9pPr algn="l" defTabSz="914400" eaLnBrk="1" hangingPunct="1" latinLnBrk="0" marL="3657600" rtl="0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clrMru>
    <a:srgbClr val="FF6600"/>
    <a:srgbClr val="FFFF00"/>
    <a:srgbClr val="3760A0"/>
    <a:srgbClr val="DBDBF3"/>
    <a:srgbClr val="C1C1EB"/>
    <a:srgbClr val="333399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4251" autoAdjust="0"/>
    <p:restoredTop sz="90929"/>
  </p:normalViewPr>
  <p:slideViewPr>
    <p:cSldViewPr>
      <p:cViewPr>
        <p:scale>
          <a:sx n="100" d="100"/>
          <a:sy n="100" d="100"/>
        </p:scale>
        <p:origin x="-998" y="6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tableStyles" Target="tableStyles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20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21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22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623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2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97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</a:lvl1pPr>
            <a:lvl2pPr algn="ctr" indent="0" marL="457200">
              <a:buNone/>
            </a:lvl2pPr>
            <a:lvl3pPr algn="ctr" indent="0" marL="914400">
              <a:buNone/>
            </a:lvl3pPr>
            <a:lvl4pPr algn="ctr" indent="0" marL="1371600">
              <a:buNone/>
            </a:lvl4pPr>
            <a:lvl5pPr algn="ctr" indent="0" marL="1828800">
              <a:buNone/>
            </a:lvl5pPr>
            <a:lvl6pPr algn="ctr" indent="0" marL="2286000">
              <a:buNone/>
            </a:lvl6pPr>
            <a:lvl7pPr algn="ctr" indent="0" marL="2743200">
              <a:buNone/>
            </a:lvl7pPr>
            <a:lvl8pPr algn="ctr" indent="0" marL="3200400">
              <a:buNone/>
            </a:lvl8pPr>
            <a:lvl9pPr algn="ctr" indent="0" marL="3657600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80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07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/>
            </a:lvl1pPr>
            <a:lvl2pPr indent="0" marL="457200">
              <a:buNone/>
              <a:defRPr sz="1800"/>
            </a:lvl2pPr>
            <a:lvl3pPr indent="0" marL="914400">
              <a:buNone/>
              <a:defRPr sz="1600"/>
            </a:lvl3pPr>
            <a:lvl4pPr indent="0" marL="1371600">
              <a:buNone/>
              <a:defRPr sz="1400"/>
            </a:lvl4pPr>
            <a:lvl5pPr indent="0" marL="1828800">
              <a:buNone/>
              <a:defRPr sz="1400"/>
            </a:lvl5pPr>
            <a:lvl6pPr indent="0" marL="2286000">
              <a:buNone/>
              <a:defRPr sz="1400"/>
            </a:lvl6pPr>
            <a:lvl7pPr indent="0" marL="2743200">
              <a:buNone/>
              <a:defRPr sz="1400"/>
            </a:lvl7pPr>
            <a:lvl8pPr indent="0" marL="3200400">
              <a:buNone/>
              <a:defRPr sz="1400"/>
            </a:lvl8pPr>
            <a:lvl9pPr indent="0" marL="365760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09" name="Content Placeholder 2"/>
          <p:cNvSpPr>
            <a:spLocks noGrp="1"/>
          </p:cNvSpPr>
          <p:nvPr>
            <p:ph sz="half" idx="1"/>
          </p:nvPr>
        </p:nvSpPr>
        <p:spPr>
          <a:xfrm>
            <a:off x="384175" y="2257425"/>
            <a:ext cx="3810000" cy="3763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10" name="Content Placeholder 3"/>
          <p:cNvSpPr>
            <a:spLocks noGrp="1"/>
          </p:cNvSpPr>
          <p:nvPr>
            <p:ph sz="half" idx="2"/>
          </p:nvPr>
        </p:nvSpPr>
        <p:spPr>
          <a:xfrm>
            <a:off x="4346575" y="2257425"/>
            <a:ext cx="3810000" cy="3763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12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13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14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15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17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18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02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603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05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Vertical Title 1"/>
          <p:cNvSpPr>
            <a:spLocks noGrp="1"/>
          </p:cNvSpPr>
          <p:nvPr>
            <p:ph type="title" orient="vert"/>
          </p:nvPr>
        </p:nvSpPr>
        <p:spPr>
          <a:xfrm>
            <a:off x="6216650" y="1052513"/>
            <a:ext cx="1943100" cy="4968875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00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4175" y="1052513"/>
            <a:ext cx="5680075" cy="4968875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image" Target="../media/image1.jpeg"/><Relationship Id="rId13" Type="http://schemas.openxmlformats.org/officeDocument/2006/relationships/image" Target="../media/image2.jpeg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Picture 34" descr="cambridge_elt"/>
          <p:cNvPicPr>
            <a:picLocks noChangeAspect="1" noChangeArrowheads="1"/>
          </p:cNvPicPr>
          <p:nvPr userDrawn="1"/>
        </p:nvPicPr>
        <p:blipFill>
          <a:blip xmlns:r="http://schemas.openxmlformats.org/officeDocument/2006/relationships" r:embed="rId1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/>
          <a:noFill/>
        </p:spPr>
      </p:pic>
      <p:sp>
        <p:nvSpPr>
          <p:cNvPr id="104857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4213" y="1052513"/>
            <a:ext cx="7475537" cy="1143000"/>
          </a:xfrm>
          <a:prstGeom prst="rect"/>
          <a:noFill/>
          <a:ln>
            <a:noFill/>
          </a:ln>
          <a:effectLst/>
        </p:spPr>
        <p:txBody>
          <a:bodyPr anchor="t" anchorCtr="0" bIns="45720" compatLnSpc="1" lIns="91440" numCol="1" rIns="91440" tIns="45720" vert="horz" wrap="square">
            <a:prstTxWarp prst="textNoShape"/>
          </a:bodyPr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4857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4175" y="2257425"/>
            <a:ext cx="7772400" cy="3763963"/>
          </a:xfrm>
          <a:prstGeom prst="rect"/>
          <a:noFill/>
          <a:ln>
            <a:noFill/>
          </a:ln>
          <a:effectLst/>
        </p:spPr>
        <p:txBody>
          <a:bodyPr anchor="t" anchorCtr="0" bIns="45720" compatLnSpc="1" lIns="91440" numCol="1" rIns="91440" tIns="45720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pic>
        <p:nvPicPr>
          <p:cNvPr id="2097153" name="Picture 28" descr="shcup_pos_m"/>
          <p:cNvPicPr>
            <a:picLocks noChangeAspect="1" noChangeArrowheads="1"/>
          </p:cNvPicPr>
          <p:nvPr userDrawn="1"/>
        </p:nvPicPr>
        <p:blipFill>
          <a:blip xmlns:r="http://schemas.openxmlformats.org/officeDocument/2006/relationships" r:embed="rId13"/>
          <a:srcRect/>
          <a:stretch>
            <a:fillRect/>
          </a:stretch>
        </p:blipFill>
        <p:spPr bwMode="auto">
          <a:xfrm>
            <a:off x="6588125" y="6237288"/>
            <a:ext cx="2228850" cy="466725"/>
          </a:xfrm>
          <a:prstGeom prst="rect"/>
          <a:noFill/>
        </p:spPr>
      </p:pic>
      <p:sp>
        <p:nvSpPr>
          <p:cNvPr id="1048578" name="Line 29"/>
          <p:cNvSpPr>
            <a:spLocks noChangeShapeType="1"/>
          </p:cNvSpPr>
          <p:nvPr userDrawn="1"/>
        </p:nvSpPr>
        <p:spPr bwMode="auto">
          <a:xfrm>
            <a:off x="0" y="6021388"/>
            <a:ext cx="9144000" cy="0"/>
          </a:xfrm>
          <a:prstGeom prst="line"/>
          <a:noFill/>
          <a:ln w="9525">
            <a:solidFill>
              <a:srgbClr val="333399"/>
            </a:solidFill>
            <a:round/>
            <a:headEnd/>
            <a:tailEnd/>
          </a:ln>
          <a:effectLst/>
        </p:spPr>
        <p:txBody>
          <a:bodyPr/>
          <a:p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fontAlgn="base" rtl="0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rgbClr val="3760A0"/>
          </a:solidFill>
          <a:latin typeface="+mj-lt"/>
          <a:ea typeface="+mj-ea"/>
          <a:cs typeface="+mj-cs"/>
        </a:defRPr>
      </a:lvl1pPr>
      <a:lvl2pPr algn="l" fontAlgn="base" rtl="0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rgbClr val="3760A0"/>
          </a:solidFill>
          <a:latin typeface="Frutiger LT Std 45 Light" pitchFamily="34" charset="0"/>
        </a:defRPr>
      </a:lvl2pPr>
      <a:lvl3pPr algn="l" fontAlgn="base" rtl="0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rgbClr val="3760A0"/>
          </a:solidFill>
          <a:latin typeface="Frutiger LT Std 45 Light" pitchFamily="34" charset="0"/>
        </a:defRPr>
      </a:lvl3pPr>
      <a:lvl4pPr algn="l" fontAlgn="base" rtl="0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rgbClr val="3760A0"/>
          </a:solidFill>
          <a:latin typeface="Frutiger LT Std 45 Light" pitchFamily="34" charset="0"/>
        </a:defRPr>
      </a:lvl4pPr>
      <a:lvl5pPr algn="l" fontAlgn="base" rtl="0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rgbClr val="3760A0"/>
          </a:solidFill>
          <a:latin typeface="Frutiger LT Std 45 Light" pitchFamily="34" charset="0"/>
        </a:defRPr>
      </a:lvl5pPr>
      <a:lvl6pPr algn="l" fontAlgn="base" marL="457200" rtl="0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rgbClr val="3760A0"/>
          </a:solidFill>
          <a:latin typeface="Frutiger LT Std 45 Light" pitchFamily="34" charset="0"/>
        </a:defRPr>
      </a:lvl6pPr>
      <a:lvl7pPr algn="l" fontAlgn="base" marL="914400" rtl="0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rgbClr val="3760A0"/>
          </a:solidFill>
          <a:latin typeface="Frutiger LT Std 45 Light" pitchFamily="34" charset="0"/>
        </a:defRPr>
      </a:lvl7pPr>
      <a:lvl8pPr algn="l" fontAlgn="base" marL="1371600" rtl="0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rgbClr val="3760A0"/>
          </a:solidFill>
          <a:latin typeface="Frutiger LT Std 45 Light" pitchFamily="34" charset="0"/>
        </a:defRPr>
      </a:lvl8pPr>
      <a:lvl9pPr algn="l" fontAlgn="base" marL="1828800" rtl="0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rgbClr val="3760A0"/>
          </a:solidFill>
          <a:latin typeface="Frutiger LT Std 45 Light" pitchFamily="34" charset="0"/>
        </a:defRPr>
      </a:lvl9pPr>
    </p:titleStyle>
    <p:bodyStyle>
      <a:lvl1pPr algn="l" fontAlgn="base" indent="-342900" marL="342900" rtl="0">
        <a:spcBef>
          <a:spcPct val="20000"/>
        </a:spcBef>
        <a:spcAft>
          <a:spcPct val="0"/>
        </a:spcAft>
        <a:buSzPct val="100000"/>
        <a:buFont typeface="Times" pitchFamily="18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algn="l" fontAlgn="base" indent="-285750" marL="742950" rtl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</a:defRPr>
      </a:lvl2pPr>
      <a:lvl3pPr algn="l" fontAlgn="base" indent="-228600" marL="1143000" rtl="0">
        <a:spcBef>
          <a:spcPct val="20000"/>
        </a:spcBef>
        <a:spcAft>
          <a:spcPct val="0"/>
        </a:spcAft>
        <a:buSzPct val="100000"/>
        <a:buChar char="•"/>
        <a:defRPr>
          <a:solidFill>
            <a:schemeClr val="tx1"/>
          </a:solidFill>
          <a:latin typeface="+mj-lt"/>
        </a:defRPr>
      </a:lvl3pPr>
      <a:lvl4pPr algn="l" fontAlgn="base" indent="-228600" marL="1600200" rtl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j-lt"/>
        </a:defRPr>
      </a:lvl4pPr>
      <a:lvl5pPr algn="l" fontAlgn="base" indent="-228600" marL="2057400" rtl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j-lt"/>
        </a:defRPr>
      </a:lvl5pPr>
      <a:lvl6pPr algn="l" fontAlgn="base" indent="-228600" marL="2514600" rtl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j-lt"/>
        </a:defRPr>
      </a:lvl6pPr>
      <a:lvl7pPr algn="l" fontAlgn="base" indent="-228600" marL="2971800" rtl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j-lt"/>
        </a:defRPr>
      </a:lvl7pPr>
      <a:lvl8pPr algn="l" fontAlgn="base" indent="-228600" marL="3429000" rtl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j-lt"/>
        </a:defRPr>
      </a:lvl8pPr>
      <a:lvl9pPr algn="l" fontAlgn="base" indent="-228600" marL="3886200" rtl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j-lt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609600"/>
            <a:ext cx="7475538" cy="395288"/>
          </a:xfrm>
        </p:spPr>
        <p:txBody>
          <a:bodyPr/>
          <a:p>
            <a:r>
              <a:rPr dirty="0" lang="en-GB" smtClean="0">
                <a:latin typeface="Times New Roman" pitchFamily="18" charset="0"/>
                <a:ea typeface="PMingLiU-ExtB" pitchFamily="18" charset="-120"/>
                <a:cs typeface="Times New Roman" pitchFamily="18" charset="0"/>
              </a:rPr>
              <a:t>Comprehension</a:t>
            </a:r>
            <a:endParaRPr dirty="0" lang="en-GB">
              <a:latin typeface="Times New Roman" pitchFamily="18" charset="0"/>
              <a:ea typeface="PMingLiU-ExtB" pitchFamily="18" charset="-120"/>
              <a:cs typeface="Times New Roman" pitchFamily="18" charset="0"/>
            </a:endParaRPr>
          </a:p>
        </p:txBody>
      </p:sp>
      <p:sp>
        <p:nvSpPr>
          <p:cNvPr id="10485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1524000"/>
            <a:ext cx="7829872" cy="4209256"/>
          </a:xfrm>
        </p:spPr>
        <p:txBody>
          <a:bodyPr/>
          <a:p>
            <a:pPr>
              <a:lnSpc>
                <a:spcPct val="90000"/>
              </a:lnSpc>
              <a:buFont typeface="Wingdings" pitchFamily="2" charset="2"/>
              <a:buChar char="v"/>
            </a:pPr>
            <a:r>
              <a:rPr dirty="0" sz="2400" lang="en-US" smtClean="0">
                <a:latin typeface="Times New Roman" pitchFamily="18" charset="0"/>
                <a:cs typeface="Times New Roman" pitchFamily="18" charset="0"/>
              </a:rPr>
              <a:t>Read the </a:t>
            </a:r>
            <a:r>
              <a:rPr b="1" dirty="0" sz="2400" lang="en-US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first and last </a:t>
            </a:r>
            <a:r>
              <a:rPr dirty="0" sz="2400" lang="en-US" smtClean="0">
                <a:latin typeface="Times New Roman" pitchFamily="18" charset="0"/>
                <a:cs typeface="Times New Roman" pitchFamily="18" charset="0"/>
              </a:rPr>
              <a:t>sentences of the</a:t>
            </a:r>
          </a:p>
          <a:p>
            <a:pPr>
              <a:lnSpc>
                <a:spcPct val="90000"/>
              </a:lnSpc>
              <a:buNone/>
            </a:pPr>
            <a:r>
              <a:rPr dirty="0" sz="2400" lang="en-US" smtClean="0">
                <a:latin typeface="Times New Roman" pitchFamily="18" charset="0"/>
                <a:cs typeface="Times New Roman" pitchFamily="18" charset="0"/>
              </a:rPr>
              <a:t>passage to establish the </a:t>
            </a:r>
            <a:r>
              <a:rPr b="1" dirty="0" sz="2400" lang="en-US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topic and main idea</a:t>
            </a:r>
            <a:r>
              <a:rPr dirty="0" sz="2400" lang="en-US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90000"/>
              </a:lnSpc>
              <a:buFont typeface="Wingdings" pitchFamily="2" charset="2"/>
              <a:buChar char="v"/>
            </a:pPr>
            <a:r>
              <a:rPr dirty="0" sz="2400" lang="en-US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b="1" dirty="0" sz="2400" lang="en-US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Skim</a:t>
            </a:r>
            <a:r>
              <a:rPr dirty="0" sz="2400" lang="en-US" smtClean="0">
                <a:latin typeface="Times New Roman" pitchFamily="18" charset="0"/>
                <a:cs typeface="Times New Roman" pitchFamily="18" charset="0"/>
              </a:rPr>
              <a:t> the passage for the </a:t>
            </a:r>
            <a:r>
              <a:rPr b="1" dirty="0" sz="2400" lang="en-US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key concepts and</a:t>
            </a:r>
          </a:p>
          <a:p>
            <a:pPr>
              <a:lnSpc>
                <a:spcPct val="90000"/>
              </a:lnSpc>
              <a:buNone/>
            </a:pPr>
            <a:r>
              <a:rPr b="1" dirty="0" sz="2400" lang="en-US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vocabulary</a:t>
            </a:r>
            <a:r>
              <a:rPr dirty="0" sz="2400" lang="en-US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90000"/>
              </a:lnSpc>
              <a:buFont typeface="Wingdings" pitchFamily="2" charset="2"/>
              <a:buChar char="v"/>
            </a:pPr>
            <a:r>
              <a:rPr dirty="0" sz="2400" lang="en-US" smtClean="0">
                <a:latin typeface="Times New Roman" pitchFamily="18" charset="0"/>
                <a:cs typeface="Times New Roman" pitchFamily="18" charset="0"/>
              </a:rPr>
              <a:t>Read the questions following the passage to</a:t>
            </a:r>
          </a:p>
          <a:p>
            <a:pPr>
              <a:lnSpc>
                <a:spcPct val="90000"/>
              </a:lnSpc>
              <a:buNone/>
            </a:pPr>
            <a:r>
              <a:rPr b="1" dirty="0" sz="2400" lang="en-US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find out </a:t>
            </a:r>
            <a:r>
              <a:rPr dirty="0" sz="2400" lang="en-US" smtClean="0">
                <a:latin typeface="Times New Roman" pitchFamily="18" charset="0"/>
                <a:cs typeface="Times New Roman" pitchFamily="18" charset="0"/>
              </a:rPr>
              <a:t>what kinds of information you are</a:t>
            </a:r>
          </a:p>
          <a:p>
            <a:pPr>
              <a:lnSpc>
                <a:spcPct val="90000"/>
              </a:lnSpc>
              <a:buNone/>
            </a:pPr>
            <a:r>
              <a:rPr dirty="0" sz="2400" lang="en-US" smtClean="0">
                <a:latin typeface="Times New Roman" pitchFamily="18" charset="0"/>
                <a:cs typeface="Times New Roman" pitchFamily="18" charset="0"/>
              </a:rPr>
              <a:t>looking for. [DO NOT read the options]</a:t>
            </a:r>
          </a:p>
          <a:p>
            <a:pPr>
              <a:lnSpc>
                <a:spcPct val="90000"/>
              </a:lnSpc>
              <a:buFont typeface="Wingdings" pitchFamily="2" charset="2"/>
              <a:buChar char="v"/>
            </a:pPr>
            <a:r>
              <a:rPr dirty="0" sz="2400" lang="en-US" smtClean="0">
                <a:latin typeface="Times New Roman" pitchFamily="18" charset="0"/>
                <a:cs typeface="Times New Roman" pitchFamily="18" charset="0"/>
              </a:rPr>
              <a:t>Read the passage carefully</a:t>
            </a:r>
            <a:r>
              <a:rPr dirty="0" sz="2400" lang="en-US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b="1" dirty="0" sz="2400" lang="en-US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keeping in mind</a:t>
            </a:r>
          </a:p>
          <a:p>
            <a:pPr>
              <a:lnSpc>
                <a:spcPct val="90000"/>
              </a:lnSpc>
              <a:buNone/>
            </a:pPr>
            <a:r>
              <a:rPr dirty="0" sz="2400" lang="en-US" smtClean="0">
                <a:latin typeface="Times New Roman" pitchFamily="18" charset="0"/>
                <a:cs typeface="Times New Roman" pitchFamily="18" charset="0"/>
              </a:rPr>
              <a:t>the questions you will have to answer.</a:t>
            </a:r>
            <a:endParaRPr dirty="0" sz="2400" lang="en-GB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583" name="Rectangle 8"/>
          <p:cNvSpPr>
            <a:spLocks noChangeArrowheads="1"/>
          </p:cNvSpPr>
          <p:nvPr/>
        </p:nvSpPr>
        <p:spPr bwMode="auto">
          <a:xfrm>
            <a:off x="8586788" y="3940175"/>
            <a:ext cx="184150" cy="457200"/>
          </a:xfrm>
          <a:prstGeom prst="rect"/>
          <a:noFill/>
          <a:ln>
            <a:noFill/>
          </a:ln>
          <a:effectLst/>
        </p:spPr>
        <p:txBody>
          <a:bodyPr wrap="none">
            <a:spAutoFit/>
          </a:bodyPr>
          <a:p>
            <a:endParaRPr lang="en-GB"/>
          </a:p>
        </p:txBody>
      </p:sp>
      <p:sp>
        <p:nvSpPr>
          <p:cNvPr id="1048584" name="Text Box 9"/>
          <p:cNvSpPr txBox="1">
            <a:spLocks noChangeArrowheads="1"/>
          </p:cNvSpPr>
          <p:nvPr/>
        </p:nvSpPr>
        <p:spPr bwMode="auto">
          <a:xfrm>
            <a:off x="2032000" y="-79375"/>
            <a:ext cx="5564188" cy="457200"/>
          </a:xfrm>
          <a:prstGeom prst="rect"/>
          <a:noFill/>
          <a:ln>
            <a:noFill/>
          </a:ln>
          <a:effectLst/>
        </p:spPr>
        <p:txBody>
          <a:bodyPr>
            <a:spAutoFit/>
          </a:bodyPr>
          <a:p>
            <a:endParaRPr lang="en-GB"/>
          </a:p>
        </p:txBody>
      </p:sp>
    </p:spTree>
  </p:cSld>
  <p:clrMapOvr>
    <a:masterClrMapping/>
  </p:clrMapOvr>
  <p:timing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052513"/>
            <a:ext cx="7475537" cy="623887"/>
          </a:xfrm>
        </p:spPr>
        <p:txBody>
          <a:bodyPr/>
          <a:p>
            <a:r>
              <a:rPr sz="3200" lang="en-GB">
                <a:solidFill>
                  <a:srgbClr val="333399"/>
                </a:solidFill>
              </a:rPr>
              <a:t>The Comprehension Approach</a:t>
            </a:r>
            <a:r>
              <a:rPr sz="3200" lang="en-GB"/>
              <a:t/>
            </a:r>
            <a:br>
              <a:rPr sz="3200" lang="en-GB"/>
            </a:br>
            <a:endParaRPr sz="3200" lang="en-GB"/>
          </a:p>
        </p:txBody>
      </p:sp>
      <p:sp>
        <p:nvSpPr>
          <p:cNvPr id="10485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4175" y="1828800"/>
            <a:ext cx="7772400" cy="3276600"/>
          </a:xfrm>
          <a:ln>
            <a:solidFill>
              <a:srgbClr val="333399"/>
            </a:solidFill>
            <a:miter lim="800000"/>
            <a:headEnd/>
            <a:tailEnd/>
          </a:ln>
        </p:spPr>
        <p:txBody>
          <a:bodyPr/>
          <a:p>
            <a:pPr>
              <a:buFont typeface="Wingdings" pitchFamily="2" charset="2"/>
              <a:buChar char="v"/>
            </a:pPr>
            <a:r>
              <a:rPr dirty="0" sz="2400" lang="en-US" smtClean="0">
                <a:latin typeface="Times New Roman" pitchFamily="18" charset="0"/>
                <a:cs typeface="Times New Roman" pitchFamily="18" charset="0"/>
              </a:rPr>
              <a:t>Answer the question. Use </a:t>
            </a:r>
            <a:r>
              <a:rPr b="1" dirty="0" sz="2400" lang="en-US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key words or</a:t>
            </a:r>
          </a:p>
          <a:p>
            <a:pPr indent="0" marL="0">
              <a:buNone/>
            </a:pPr>
            <a:r>
              <a:rPr b="1" dirty="0" sz="2400" lang="en-US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phrases</a:t>
            </a:r>
            <a:r>
              <a:rPr dirty="0" sz="2400" lang="en-US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US" smtClean="0">
                <a:latin typeface="Times New Roman" pitchFamily="18" charset="0"/>
                <a:cs typeface="Times New Roman" pitchFamily="18" charset="0"/>
              </a:rPr>
              <a:t>in the question to </a:t>
            </a:r>
            <a:r>
              <a:rPr b="1" dirty="0" sz="2400" lang="en-US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scan </a:t>
            </a:r>
            <a:r>
              <a:rPr dirty="0" sz="2400" lang="en-US" smtClean="0">
                <a:latin typeface="Times New Roman" pitchFamily="18" charset="0"/>
                <a:cs typeface="Times New Roman" pitchFamily="18" charset="0"/>
              </a:rPr>
              <a:t>the passage</a:t>
            </a:r>
          </a:p>
          <a:p>
            <a:pPr indent="0" marL="0">
              <a:buNone/>
            </a:pPr>
            <a:r>
              <a:rPr dirty="0" sz="2400" lang="en-US" smtClean="0">
                <a:latin typeface="Times New Roman" pitchFamily="18" charset="0"/>
                <a:cs typeface="Times New Roman" pitchFamily="18" charset="0"/>
              </a:rPr>
              <a:t>for the correct answer.</a:t>
            </a:r>
          </a:p>
          <a:p>
            <a:pPr>
              <a:buFont typeface="Wingdings" pitchFamily="2" charset="2"/>
              <a:buChar char="v"/>
            </a:pPr>
            <a:r>
              <a:rPr b="1" dirty="0" sz="2400" lang="en-US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Guess</a:t>
            </a:r>
            <a:r>
              <a:rPr dirty="0" sz="2400" lang="en-US" smtClean="0">
                <a:latin typeface="Times New Roman" pitchFamily="18" charset="0"/>
                <a:cs typeface="Times New Roman" pitchFamily="18" charset="0"/>
              </a:rPr>
              <a:t> if you do not know the correct answer.</a:t>
            </a:r>
            <a:endParaRPr dirty="0" sz="2400" lang="en-GB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 nodeType="clickPar">
                      <p:stCondLst>
                        <p:cond delay="indefinite"/>
                      </p:stCondLst>
                      <p:childTnLst>
                        <p:par>
                          <p:cTn fill="hold" id="4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8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7"/>
                                        <p:tgtEl>
                                          <p:spTgt spid="1048586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8"/>
                                        <p:tgtEl>
                                          <p:spTgt spid="1048586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grpId="0" id="9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1"/>
                                        <p:tgtEl>
                                          <p:spTgt spid="1048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12"/>
                                        <p:tgtEl>
                                          <p:spTgt spid="1048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grpId="0" id="13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5"/>
                                        <p:tgtEl>
                                          <p:spTgt spid="10485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16"/>
                                        <p:tgtEl>
                                          <p:spTgt spid="10485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grpId="0" id="17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9"/>
                                        <p:tgtEl>
                                          <p:spTgt spid="1048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20"/>
                                        <p:tgtEl>
                                          <p:spTgt spid="1048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grpId="0" id="21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23"/>
                                        <p:tgtEl>
                                          <p:spTgt spid="10485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24"/>
                                        <p:tgtEl>
                                          <p:spTgt spid="10485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586" grpId="0" build="p" animBg="1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7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052513"/>
            <a:ext cx="7475537" cy="852487"/>
          </a:xfrm>
        </p:spPr>
        <p:txBody>
          <a:bodyPr/>
          <a:p>
            <a:r>
              <a:rPr b="1" dirty="0" sz="2400" lang="en-GB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Skimming &amp; Scanning</a:t>
            </a:r>
            <a:endParaRPr b="1" dirty="0" sz="2400" lang="en-GB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5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752600"/>
            <a:ext cx="7901880" cy="4340696"/>
          </a:xfrm>
        </p:spPr>
        <p:txBody>
          <a:bodyPr/>
          <a:p>
            <a:pPr>
              <a:buFont typeface="Wingdings" pitchFamily="2" charset="2"/>
              <a:buChar char="v"/>
            </a:pPr>
            <a:r>
              <a:rPr b="1" dirty="0" sz="2400" lang="en-US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Skimming</a:t>
            </a:r>
            <a:r>
              <a:rPr dirty="0" sz="2400" lang="en-US" smtClean="0">
                <a:latin typeface="Times New Roman" pitchFamily="18" charset="0"/>
                <a:cs typeface="Times New Roman" pitchFamily="18" charset="0"/>
              </a:rPr>
              <a:t> means </a:t>
            </a:r>
            <a:r>
              <a:rPr dirty="0" sz="2400" lang="en-US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reading quickly </a:t>
            </a:r>
            <a:r>
              <a:rPr dirty="0" sz="2400" lang="en-US" smtClean="0">
                <a:latin typeface="Times New Roman" pitchFamily="18" charset="0"/>
                <a:cs typeface="Times New Roman" pitchFamily="18" charset="0"/>
              </a:rPr>
              <a:t>for general</a:t>
            </a:r>
          </a:p>
          <a:p>
            <a:pPr indent="0" marL="0">
              <a:buNone/>
            </a:pPr>
            <a:r>
              <a:rPr dirty="0" sz="2400" lang="en-US" smtClean="0">
                <a:latin typeface="Times New Roman" pitchFamily="18" charset="0"/>
                <a:cs typeface="Times New Roman" pitchFamily="18" charset="0"/>
              </a:rPr>
              <a:t>meaning. It is commonly used to find out</a:t>
            </a:r>
          </a:p>
          <a:p>
            <a:pPr indent="0" marL="0">
              <a:buNone/>
            </a:pPr>
            <a:r>
              <a:rPr dirty="0" sz="2400" lang="en-US" smtClean="0">
                <a:latin typeface="Times New Roman" pitchFamily="18" charset="0"/>
                <a:cs typeface="Times New Roman" pitchFamily="18" charset="0"/>
              </a:rPr>
              <a:t>about the topic, the main idea, and general</a:t>
            </a:r>
          </a:p>
          <a:p>
            <a:pPr indent="0" marL="0">
              <a:buNone/>
            </a:pPr>
            <a:r>
              <a:rPr dirty="0" sz="2400" lang="en-US" smtClean="0">
                <a:latin typeface="Times New Roman" pitchFamily="18" charset="0"/>
                <a:cs typeface="Times New Roman" pitchFamily="18" charset="0"/>
              </a:rPr>
              <a:t>organization of the texts.</a:t>
            </a:r>
          </a:p>
          <a:p>
            <a:pPr>
              <a:buFont typeface="Wingdings" pitchFamily="2" charset="2"/>
              <a:buChar char="v"/>
            </a:pPr>
            <a:r>
              <a:rPr b="1" dirty="0" sz="2400" lang="en-US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Scanning</a:t>
            </a:r>
            <a:r>
              <a:rPr dirty="0" sz="2400" lang="en-US" smtClean="0">
                <a:latin typeface="Times New Roman" pitchFamily="18" charset="0"/>
                <a:cs typeface="Times New Roman" pitchFamily="18" charset="0"/>
              </a:rPr>
              <a:t> means</a:t>
            </a:r>
            <a:r>
              <a:rPr dirty="0" sz="2400" lang="en-US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knowing </a:t>
            </a:r>
            <a:r>
              <a:rPr dirty="0" sz="2400" lang="en-US" smtClean="0">
                <a:latin typeface="Times New Roman" pitchFamily="18" charset="0"/>
                <a:cs typeface="Times New Roman" pitchFamily="18" charset="0"/>
              </a:rPr>
              <a:t>what information</a:t>
            </a:r>
          </a:p>
          <a:p>
            <a:pPr indent="0" marL="0">
              <a:buNone/>
            </a:pPr>
            <a:r>
              <a:rPr dirty="0" sz="2400" lang="en-US" smtClean="0">
                <a:latin typeface="Times New Roman" pitchFamily="18" charset="0"/>
                <a:cs typeface="Times New Roman" pitchFamily="18" charset="0"/>
              </a:rPr>
              <a:t>you need to find before you read. Then your</a:t>
            </a:r>
          </a:p>
          <a:p>
            <a:pPr indent="0" marL="0">
              <a:buNone/>
            </a:pPr>
            <a:r>
              <a:rPr dirty="0" sz="2400" lang="en-US" smtClean="0">
                <a:latin typeface="Times New Roman" pitchFamily="18" charset="0"/>
                <a:cs typeface="Times New Roman" pitchFamily="18" charset="0"/>
              </a:rPr>
              <a:t>eyes move quickly to find the particular</a:t>
            </a:r>
          </a:p>
          <a:p>
            <a:pPr indent="0" marL="0">
              <a:buNone/>
            </a:pPr>
            <a:r>
              <a:rPr dirty="0" sz="2400" lang="en-US" smtClean="0">
                <a:latin typeface="Times New Roman" pitchFamily="18" charset="0"/>
                <a:cs typeface="Times New Roman" pitchFamily="18" charset="0"/>
              </a:rPr>
              <a:t>information. </a:t>
            </a:r>
            <a:r>
              <a:rPr b="1" dirty="0" sz="2400" lang="en-US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Scanning</a:t>
            </a:r>
            <a:r>
              <a:rPr dirty="0" sz="2400" lang="en-US" smtClean="0">
                <a:latin typeface="Times New Roman" pitchFamily="18" charset="0"/>
                <a:cs typeface="Times New Roman" pitchFamily="18" charset="0"/>
              </a:rPr>
              <a:t> is commonly used to</a:t>
            </a:r>
          </a:p>
          <a:p>
            <a:pPr indent="0" marL="0">
              <a:buNone/>
            </a:pPr>
            <a:r>
              <a:rPr dirty="0" sz="2400" lang="en-US" smtClean="0">
                <a:latin typeface="Times New Roman" pitchFamily="18" charset="0"/>
                <a:cs typeface="Times New Roman" pitchFamily="18" charset="0"/>
              </a:rPr>
              <a:t>look for a fact or a detail or a particular</a:t>
            </a:r>
          </a:p>
          <a:p>
            <a:pPr indent="0" marL="0">
              <a:buNone/>
            </a:pPr>
            <a:r>
              <a:rPr dirty="0" sz="2400" lang="en-US" smtClean="0">
                <a:latin typeface="Times New Roman" pitchFamily="18" charset="0"/>
                <a:cs typeface="Times New Roman" pitchFamily="18" charset="0"/>
              </a:rPr>
              <a:t>vocabulary word</a:t>
            </a:r>
            <a:endParaRPr dirty="0" sz="2400" lang="en-GB">
              <a:latin typeface="Times New Roman" pitchFamily="18" charset="0"/>
              <a:cs typeface="Times New Roman" pitchFamily="18" charset="0"/>
            </a:endParaRPr>
          </a:p>
          <a:p>
            <a:endParaRPr dirty="0" sz="2400" lang="en-GB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9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384175" y="1752600"/>
            <a:ext cx="7772400" cy="4268788"/>
          </a:xfrm>
        </p:spPr>
        <p:txBody>
          <a:bodyPr/>
          <a:p>
            <a:pPr indent="0" marL="0">
              <a:buNone/>
            </a:pPr>
            <a:r>
              <a:rPr b="1" dirty="0" sz="2400" lang="en-GB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Explicit Questions </a:t>
            </a:r>
          </a:p>
          <a:p>
            <a:pPr>
              <a:buFont typeface="Wingdings" pitchFamily="2" charset="2"/>
              <a:buChar char="Ø"/>
            </a:pPr>
            <a:r>
              <a:rPr b="1" dirty="0" sz="2400" lang="en-GB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Explicit</a:t>
            </a:r>
            <a:r>
              <a:rPr dirty="0" sz="2400" lang="en-GB" smtClean="0">
                <a:latin typeface="Times New Roman" pitchFamily="18" charset="0"/>
                <a:cs typeface="Times New Roman" pitchFamily="18" charset="0"/>
              </a:rPr>
              <a:t> means that it is “ </a:t>
            </a:r>
            <a:r>
              <a:rPr b="1" dirty="0" sz="2400" lang="en-GB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obvious</a:t>
            </a:r>
            <a:r>
              <a:rPr dirty="0" sz="2400" lang="en-GB" smtClean="0">
                <a:latin typeface="Times New Roman" pitchFamily="18" charset="0"/>
                <a:cs typeface="Times New Roman" pitchFamily="18" charset="0"/>
              </a:rPr>
              <a:t>”.</a:t>
            </a:r>
          </a:p>
          <a:p>
            <a:pPr>
              <a:buFont typeface="Wingdings" pitchFamily="2" charset="2"/>
              <a:buChar char="Ø"/>
            </a:pPr>
            <a:r>
              <a:rPr dirty="0" sz="2400" lang="en-GB" smtClean="0">
                <a:latin typeface="Times New Roman" pitchFamily="18" charset="0"/>
                <a:cs typeface="Times New Roman" pitchFamily="18" charset="0"/>
              </a:rPr>
              <a:t>Answer is found </a:t>
            </a:r>
            <a:r>
              <a:rPr b="1" dirty="0" sz="2400" lang="en-GB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quickly</a:t>
            </a:r>
            <a:r>
              <a:rPr dirty="0" sz="2400" lang="en-GB" smtClean="0">
                <a:latin typeface="Times New Roman" pitchFamily="18" charset="0"/>
                <a:cs typeface="Times New Roman" pitchFamily="18" charset="0"/>
              </a:rPr>
              <a:t> within the passage.</a:t>
            </a:r>
          </a:p>
          <a:p>
            <a:pPr>
              <a:buFont typeface="Wingdings" pitchFamily="2" charset="2"/>
              <a:buChar char="Ø"/>
            </a:pPr>
            <a:r>
              <a:rPr dirty="0" sz="2400" lang="en-GB" smtClean="0">
                <a:latin typeface="Times New Roman" pitchFamily="18" charset="0"/>
                <a:cs typeface="Times New Roman" pitchFamily="18" charset="0"/>
              </a:rPr>
              <a:t>Choose the key word/s in the question/s and then </a:t>
            </a:r>
            <a:r>
              <a:rPr b="1" dirty="0" sz="2400" lang="en-GB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scan</a:t>
            </a:r>
            <a:r>
              <a:rPr dirty="0" sz="2400" lang="en-GB" smtClean="0">
                <a:latin typeface="Times New Roman" pitchFamily="18" charset="0"/>
                <a:cs typeface="Times New Roman" pitchFamily="18" charset="0"/>
              </a:rPr>
              <a:t> the passage for those key words. Usually the answer is in that sentence or the line above or below the key word/s.</a:t>
            </a:r>
          </a:p>
          <a:p>
            <a:pPr indent="0" marL="0">
              <a:buNone/>
            </a:pPr>
            <a:endParaRPr dirty="0" sz="2400" lang="en-GB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052513"/>
            <a:ext cx="7475537" cy="471487"/>
          </a:xfrm>
        </p:spPr>
        <p:txBody>
          <a:bodyPr/>
          <a:p>
            <a:r>
              <a:rPr b="1" dirty="0" sz="2400" lang="en-GB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Implicit Questions</a:t>
            </a:r>
            <a:endParaRPr b="1" dirty="0" sz="2400" lang="en-GB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5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4175" y="1752600"/>
            <a:ext cx="7772400" cy="4268788"/>
          </a:xfrm>
        </p:spPr>
        <p:txBody>
          <a:bodyPr/>
          <a:p>
            <a:pPr>
              <a:buFont typeface="Wingdings" pitchFamily="2" charset="2"/>
              <a:buChar char="Ø"/>
            </a:pPr>
            <a:r>
              <a:rPr dirty="0" sz="2400" lang="en-GB" smtClean="0">
                <a:latin typeface="Times New Roman" pitchFamily="18" charset="0"/>
                <a:cs typeface="Times New Roman" pitchFamily="18" charset="0"/>
              </a:rPr>
              <a:t>“Implicit” means that it is an inference questions.</a:t>
            </a:r>
          </a:p>
          <a:p>
            <a:pPr>
              <a:buFont typeface="Wingdings" pitchFamily="2" charset="2"/>
              <a:buChar char="Ø"/>
            </a:pPr>
            <a:r>
              <a:rPr dirty="0" sz="2400" lang="en-GB" smtClean="0">
                <a:latin typeface="Times New Roman" pitchFamily="18" charset="0"/>
                <a:cs typeface="Times New Roman" pitchFamily="18" charset="0"/>
              </a:rPr>
              <a:t>You have to make an </a:t>
            </a:r>
            <a:r>
              <a:rPr b="1" dirty="0" sz="2400" lang="en-GB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educated guess </a:t>
            </a:r>
            <a:r>
              <a:rPr dirty="0" sz="2400" lang="en-GB" smtClean="0">
                <a:latin typeface="Times New Roman" pitchFamily="18" charset="0"/>
                <a:cs typeface="Times New Roman" pitchFamily="18" charset="0"/>
              </a:rPr>
              <a:t>based on the “</a:t>
            </a:r>
            <a:r>
              <a:rPr b="1" dirty="0" sz="2400" lang="en-GB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clues</a:t>
            </a:r>
            <a:r>
              <a:rPr dirty="0" sz="2400" lang="en-GB" smtClean="0">
                <a:latin typeface="Times New Roman" pitchFamily="18" charset="0"/>
                <a:cs typeface="Times New Roman" pitchFamily="18" charset="0"/>
              </a:rPr>
              <a:t>” to the questions.</a:t>
            </a:r>
          </a:p>
          <a:p>
            <a:pPr>
              <a:buFont typeface="Wingdings" pitchFamily="2" charset="2"/>
              <a:buChar char="Ø"/>
            </a:pPr>
            <a:r>
              <a:rPr dirty="0" sz="2400" lang="en-GB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GB" smtClean="0">
                <a:latin typeface="Times New Roman" pitchFamily="18" charset="0"/>
                <a:cs typeface="Times New Roman" pitchFamily="18" charset="0"/>
              </a:rPr>
              <a:t>You have to “read between lines”.</a:t>
            </a:r>
          </a:p>
          <a:p>
            <a:pPr>
              <a:buFont typeface="Wingdings" pitchFamily="2" charset="2"/>
              <a:buChar char="Ø"/>
            </a:pPr>
            <a:r>
              <a:rPr dirty="0" sz="2400" lang="en-GB" smtClean="0">
                <a:latin typeface="Times New Roman" pitchFamily="18" charset="0"/>
                <a:cs typeface="Times New Roman" pitchFamily="18" charset="0"/>
              </a:rPr>
              <a:t>Inference or implicit questions ask the reader to understand ideas that are not directly stated in the text/passage.</a:t>
            </a:r>
          </a:p>
          <a:p>
            <a:pPr>
              <a:buFont typeface="Wingdings" pitchFamily="2" charset="2"/>
              <a:buChar char="Ø"/>
            </a:pPr>
            <a:r>
              <a:rPr dirty="0" sz="2400" lang="en-GB" smtClean="0">
                <a:latin typeface="Times New Roman" pitchFamily="18" charset="0"/>
                <a:cs typeface="Times New Roman" pitchFamily="18" charset="0"/>
              </a:rPr>
              <a:t>You can not infer unless you understand the main idea and facts, so answer those questions first. </a:t>
            </a:r>
            <a:endParaRPr dirty="0" sz="2400" lang="en-GB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 nodeType="clickPar">
                      <p:stCondLst>
                        <p:cond delay="indefinite"/>
                      </p:stCondLst>
                      <p:childTnLst>
                        <p:par>
                          <p:cTn fill="hold" id="4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7"/>
                                        <p:tgtEl>
                                          <p:spTgt spid="10485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8"/>
                                        <p:tgtEl>
                                          <p:spTgt spid="10485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9">
                      <p:stCondLst>
                        <p:cond delay="indefinite"/>
                      </p:stCondLst>
                      <p:childTnLst>
                        <p:par>
                          <p:cTn fill="hold" id="10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1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3"/>
                                        <p:tgtEl>
                                          <p:spTgt spid="10485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14"/>
                                        <p:tgtEl>
                                          <p:spTgt spid="10485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5">
                      <p:stCondLst>
                        <p:cond delay="indefinite"/>
                      </p:stCondLst>
                      <p:childTnLst>
                        <p:par>
                          <p:cTn fill="hold" id="16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7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9"/>
                                        <p:tgtEl>
                                          <p:spTgt spid="10485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20"/>
                                        <p:tgtEl>
                                          <p:spTgt spid="10485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1">
                      <p:stCondLst>
                        <p:cond delay="indefinite"/>
                      </p:stCondLst>
                      <p:childTnLst>
                        <p:par>
                          <p:cTn fill="hold" id="22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23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25"/>
                                        <p:tgtEl>
                                          <p:spTgt spid="10485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26"/>
                                        <p:tgtEl>
                                          <p:spTgt spid="10485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7">
                      <p:stCondLst>
                        <p:cond delay="indefinite"/>
                      </p:stCondLst>
                      <p:childTnLst>
                        <p:par>
                          <p:cTn fill="hold" id="28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29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31"/>
                                        <p:tgtEl>
                                          <p:spTgt spid="10485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32"/>
                                        <p:tgtEl>
                                          <p:spTgt spid="10485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591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533400"/>
            <a:ext cx="7848600" cy="457200"/>
          </a:xfrm>
        </p:spPr>
        <p:txBody>
          <a:bodyPr/>
          <a:p>
            <a:endParaRPr dirty="0" sz="3200" lang="en-GB"/>
          </a:p>
        </p:txBody>
      </p:sp>
      <p:sp>
        <p:nvSpPr>
          <p:cNvPr id="104859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143000"/>
            <a:ext cx="7772400" cy="4648200"/>
          </a:xfrm>
        </p:spPr>
        <p:txBody>
          <a:bodyPr/>
          <a:p>
            <a:pPr indent="0" marL="0">
              <a:lnSpc>
                <a:spcPct val="90000"/>
              </a:lnSpc>
              <a:buNone/>
            </a:pPr>
            <a:r>
              <a:rPr dirty="0" sz="2400" lang="en-US" smtClean="0">
                <a:latin typeface="Times New Roman" pitchFamily="18" charset="0"/>
                <a:cs typeface="Times New Roman" pitchFamily="18" charset="0"/>
              </a:rPr>
              <a:t>Use a pen while Going through the Passage</a:t>
            </a:r>
          </a:p>
          <a:p>
            <a:pPr indent="0" marL="0">
              <a:lnSpc>
                <a:spcPct val="90000"/>
              </a:lnSpc>
              <a:buNone/>
            </a:pPr>
            <a:r>
              <a:rPr dirty="0" sz="2400" lang="en-US" smtClean="0">
                <a:latin typeface="Times New Roman" pitchFamily="18" charset="0"/>
                <a:cs typeface="Times New Roman" pitchFamily="18" charset="0"/>
              </a:rPr>
              <a:t>Do not read the Reading Comprehension like a movie novel. While going through the passage, your  three body organs should act in collaboration.</a:t>
            </a:r>
            <a:endParaRPr dirty="0" sz="2400" lang="en-GB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  <a:buFont typeface="Arial" pitchFamily="34" charset="0"/>
              <a:buChar char="•"/>
            </a:pPr>
            <a:r>
              <a:rPr b="1" dirty="0" sz="2400" lang="en-GB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Eyes</a:t>
            </a:r>
          </a:p>
          <a:p>
            <a:pPr>
              <a:lnSpc>
                <a:spcPct val="90000"/>
              </a:lnSpc>
              <a:buFont typeface="Arial" pitchFamily="34" charset="0"/>
              <a:buChar char="•"/>
            </a:pPr>
            <a:r>
              <a:rPr b="1" dirty="0" sz="2400" lang="en-GB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Hand</a:t>
            </a:r>
          </a:p>
          <a:p>
            <a:pPr>
              <a:lnSpc>
                <a:spcPct val="90000"/>
              </a:lnSpc>
              <a:buFont typeface="Arial" pitchFamily="34" charset="0"/>
              <a:buChar char="•"/>
            </a:pPr>
            <a:r>
              <a:rPr b="1" dirty="0" sz="2400" lang="en-GB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Brain</a:t>
            </a:r>
            <a:endParaRPr b="1" dirty="0" sz="2400" lang="en-GB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7"/>
                                        <p:tgtEl>
                                          <p:spTgt spid="10485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8"/>
                                        <p:tgtEl>
                                          <p:spTgt spid="10485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9">
                      <p:stCondLst>
                        <p:cond delay="indefinite"/>
                      </p:stCondLst>
                      <p:childTnLst>
                        <p:par>
                          <p:cTn fill="hold" id="10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1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3"/>
                                        <p:tgtEl>
                                          <p:spTgt spid="10485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14"/>
                                        <p:tgtEl>
                                          <p:spTgt spid="10485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5">
                      <p:stCondLst>
                        <p:cond delay="indefinite"/>
                      </p:stCondLst>
                      <p:childTnLst>
                        <p:par>
                          <p:cTn fill="hold" id="16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7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9"/>
                                        <p:tgtEl>
                                          <p:spTgt spid="10485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20"/>
                                        <p:tgtEl>
                                          <p:spTgt spid="10485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1">
                      <p:stCondLst>
                        <p:cond delay="indefinite"/>
                      </p:stCondLst>
                      <p:childTnLst>
                        <p:par>
                          <p:cTn fill="hold" id="22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23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25"/>
                                        <p:tgtEl>
                                          <p:spTgt spid="10485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26"/>
                                        <p:tgtEl>
                                          <p:spTgt spid="10485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7">
                      <p:stCondLst>
                        <p:cond delay="indefinite"/>
                      </p:stCondLst>
                      <p:childTnLst>
                        <p:par>
                          <p:cTn fill="hold" id="28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29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31"/>
                                        <p:tgtEl>
                                          <p:spTgt spid="10485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32"/>
                                        <p:tgtEl>
                                          <p:spTgt spid="10485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593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990600"/>
            <a:ext cx="7475538" cy="623888"/>
          </a:xfrm>
        </p:spPr>
        <p:txBody>
          <a:bodyPr/>
          <a:p>
            <a:endParaRPr dirty="0" sz="3200" lang="en-GB"/>
          </a:p>
        </p:txBody>
      </p:sp>
      <p:sp>
        <p:nvSpPr>
          <p:cNvPr id="1048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752600"/>
            <a:ext cx="7772400" cy="4268788"/>
          </a:xfrm>
        </p:spPr>
        <p:txBody>
          <a:bodyPr/>
          <a:p>
            <a:endParaRPr dirty="0"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">
      <a:dk1>
        <a:srgbClr val="000000"/>
      </a:dk1>
      <a:lt1>
        <a:srgbClr val="FFFFFF"/>
      </a:lt1>
      <a:dk2>
        <a:srgbClr val="818180"/>
      </a:dk2>
      <a:lt2>
        <a:srgbClr val="808080"/>
      </a:lt2>
      <a:accent1>
        <a:srgbClr val="E6E6E6"/>
      </a:accent1>
      <a:accent2>
        <a:srgbClr val="333399"/>
      </a:accent2>
      <a:accent3>
        <a:srgbClr val="FFFFFF"/>
      </a:accent3>
      <a:accent4>
        <a:srgbClr val="000000"/>
      </a:accent4>
      <a:accent5>
        <a:srgbClr val="F0F0F0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Frutiger LT Std 45 Light"/>
        <a:ea typeface=""/>
        <a:cs typeface=""/>
      </a:majorFont>
      <a:minorFont>
        <a:latin typeface="Frutiger LT Std 55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ah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anchor="t" anchorCtr="0" bIns="45720" compatLnSpc="1" lIns="91440" numCol="1" rIns="91440" tIns="45720" vert="horz" wrap="square">
        <a:prstTxWarp prst="textNoShape"/>
      </a:bodyPr>
      <a:lstStyle>
        <a:defPPr algn="l" defTabSz="914400" eaLnBrk="0" fontAlgn="base" hangingPunct="0" indent="0" latinLnBrk="0" marL="0" marR="0" rtl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baseline="0" b="0" cap="none" sz="2400" i="0" kumimoji="0" lang="en-US" normalizeH="0" strike="noStrike" u="none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ah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anchor="t" anchorCtr="0" bIns="45720" compatLnSpc="1" lIns="91440" numCol="1" rIns="91440" tIns="45720" vert="horz" wrap="square">
        <a:prstTxWarp prst="textNoShape"/>
      </a:bodyPr>
      <a:lstStyle>
        <a:defPPr algn="l" defTabSz="914400" eaLnBrk="0" fontAlgn="base" hangingPunct="0" indent="0" latinLnBrk="0" marL="0" marR="0" rtl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baseline="0" b="0" cap="none" sz="2400" i="0" kumimoji="0" lang="en-US" normalizeH="0" strike="noStrike" u="none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Company>Cambridge University Press</Company>
  <LinksUpToDate>0</LinksUpToDate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PowerPoint Presentation</dc:title>
  <dc:creator>Phil Treble</dc:creator>
  <cp:lastModifiedBy>Successor</cp:lastModifiedBy>
  <dcterms:created xsi:type="dcterms:W3CDTF">2003-05-13T01:41:35Z</dcterms:created>
  <dcterms:modified xsi:type="dcterms:W3CDTF">2026-09-05T14:24:56Z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35f71eaf769342369c00b5183d614f09_23</vt:lpwstr>
  </property>
</Properties>
</file>
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3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 rtl="0" saveSubsetFonts="0" serverZoom="0" showSpecialPlsOnTitleSld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type="screen4x3" cy="6858000" cx="9144000"/>
  <p:notesSz cx="6858000" cy="9144000"/>
  <p:defaultTextStyle>
    <a:lvl1pPr algn="l" eaLnBrk="0" fontAlgn="base" hangingPunct="0" indent="0" latinLnBrk="0" marL="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0" charset="0"/>
        <a:ea typeface="Arial" pitchFamily="0" charset="0"/>
        <a:sym typeface="Arial" pitchFamily="0" charset="0"/>
      </a:defRPr>
    </a:lvl1pPr>
    <a:lvl2pPr algn="l" eaLnBrk="0" fontAlgn="base" hangingPunct="0" indent="0" latinLnBrk="0" marL="4572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0" charset="0"/>
        <a:ea typeface="Arial" pitchFamily="0" charset="0"/>
        <a:sym typeface="Arial" pitchFamily="0" charset="0"/>
      </a:defRPr>
    </a:lvl2pPr>
    <a:lvl3pPr algn="l" eaLnBrk="0" fontAlgn="base" hangingPunct="0" indent="0" latinLnBrk="0" marL="9144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0" charset="0"/>
        <a:ea typeface="Arial" pitchFamily="0" charset="0"/>
        <a:sym typeface="Arial" pitchFamily="0" charset="0"/>
      </a:defRPr>
    </a:lvl3pPr>
    <a:lvl4pPr algn="l" eaLnBrk="0" fontAlgn="base" hangingPunct="0" indent="0" latinLnBrk="0" marL="13716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0" charset="0"/>
        <a:ea typeface="Arial" pitchFamily="0" charset="0"/>
        <a:sym typeface="Arial" pitchFamily="0" charset="0"/>
      </a:defRPr>
    </a:lvl4pPr>
    <a:lvl5pPr algn="l" eaLnBrk="0" fontAlgn="base" hangingPunct="0" indent="0" latinLnBrk="0" marL="18288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Arial" pitchFamily="0" charset="0"/>
        <a:ea typeface="Arial" pitchFamily="0" charset="0"/>
        <a:sym typeface="Arial" pitchFamily="0" charset="0"/>
      </a:defRPr>
    </a:lvl5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View">
  <p:normalViewPr showOutlineIcons="1" snapVertSplitter="0" vertBarState="restored" horzBarState="restored" preferSingleView="0">
    <p:restoredLeft sz="15620"/>
    <p:restoredTop sz="94858" autoAdjust="0"/>
  </p:normalViewPr>
  <p:slideViewPr>
    <p:cSldViewPr showGuides="0" snapToGrid="1" snapToObjects="0">
      <p:cViewPr varScale="0">
        <p:scale>
          <a:sx n="91" d="100"/>
          <a:sy n="91" d="100"/>
        </p:scale>
        <p:origin x="-1200" y="86"/>
      </p:cViewPr>
      <p:guideLst>
        <p:guide orient="horz" pos="2160"/>
        <p:guide orient="vert" pos="2880"/>
      </p:guideLst>
    </p:cSldViewPr>
  </p:slideViewPr>
  <p:gridSpacing cx="0" cy="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tableStyles" Target="tableStyle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3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2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23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2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2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8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</a:lvl1pPr>
            <a:lvl2pPr algn="ctr" indent="0" marL="457200">
              <a:buNone/>
            </a:lvl2pPr>
            <a:lvl3pPr algn="ctr" indent="0" marL="914400">
              <a:buNone/>
            </a:lvl3pPr>
            <a:lvl4pPr algn="ctr" indent="0" marL="1371600">
              <a:buNone/>
            </a:lvl4pPr>
            <a:lvl5pPr algn="ctr" indent="0" marL="1828800">
              <a:buNone/>
            </a:lvl5pPr>
            <a:lvl6pPr algn="ctr" indent="0" marL="2286000">
              <a:buNone/>
            </a:lvl6pPr>
            <a:lvl7pPr algn="ctr" indent="0" marL="2743200">
              <a:buNone/>
            </a:lvl7pPr>
            <a:lvl8pPr algn="ctr" indent="0" marL="3200400">
              <a:buNone/>
            </a:lvl8pPr>
            <a:lvl9pPr algn="ctr" indent="0" marL="3657600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0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/>
            </a:lvl1pPr>
            <a:lvl2pPr indent="0" marL="457200">
              <a:buNone/>
              <a:defRPr sz="1800"/>
            </a:lvl2pPr>
            <a:lvl3pPr indent="0" marL="914400">
              <a:buNone/>
              <a:defRPr sz="1600"/>
            </a:lvl3pPr>
            <a:lvl4pPr indent="0" marL="1371600">
              <a:buNone/>
              <a:defRPr sz="1400"/>
            </a:lvl4pPr>
            <a:lvl5pPr indent="0" marL="1828800">
              <a:buNone/>
              <a:defRPr sz="1400"/>
            </a:lvl5pPr>
            <a:lvl6pPr indent="0" marL="2286000">
              <a:buNone/>
              <a:defRPr sz="1400"/>
            </a:lvl6pPr>
            <a:lvl7pPr indent="0" marL="2743200">
              <a:buNone/>
              <a:defRPr sz="1400"/>
            </a:lvl7pPr>
            <a:lvl8pPr indent="0" marL="3200400">
              <a:buNone/>
              <a:defRPr sz="1400"/>
            </a:lvl8pPr>
            <a:lvl9pPr indent="0" marL="365760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2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03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06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0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08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1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2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4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baseline="0" b="0" cap="none" sz="3200" i="0" kern="0" kumimoji="0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15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Only">
  <p:cSld name="Conten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image" Target="../media/image1.jpeg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blipFill rotWithShape="0">
          <a:blip xmlns:r="http://schemas.openxmlformats.org/officeDocument/2006/relationships" r:embed="rId13">
            <a:alphaModFix amt="100000"/>
          </a:blip>
          <a:srcRect/>
          <a:stretch>
            <a:fillRect/>
          </a:stretch>
        </a:blipFill>
      </p:bgPr>
    </p:bg>
    <p:spTree>
      <p:nvGrpSpPr>
        <p:cNvPr id="2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76" name="Rectangle 2"/>
          <p:cNvSpPr/>
          <p:nvPr>
            <p:ph type="title" sz="full" idx="0"/>
          </p:nvPr>
        </p:nvSpPr>
        <p:spPr>
          <a:xfrm rot="0">
            <a:off x="457200" y="274637"/>
            <a:ext cx="82296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p>
            <a:pPr lvl="0"/>
            <a:r>
              <a:rPr altLang="en-US" lang="es-ES"/>
              <a:t>Haga clic para cambiar el estilo de título	</a:t>
            </a:r>
          </a:p>
        </p:txBody>
      </p:sp>
      <p:sp>
        <p:nvSpPr>
          <p:cNvPr id="1048577" name="Rectangle 3"/>
          <p:cNvSpPr/>
          <p:nvPr>
            <p:ph type="body" sz="full" idx="1"/>
          </p:nvPr>
        </p:nvSpPr>
        <p:spPr>
          <a:xfrm rot="0">
            <a:off x="457200" y="1600200"/>
            <a:ext cx="8229600" cy="45259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es-ES"/>
              <a:t>Haga clic para modificar el estilo de texto del patrón</a:t>
            </a:r>
          </a:p>
          <a:p>
            <a:pPr lvl="1"/>
            <a:r>
              <a:rPr altLang="en-US" lang="es-ES"/>
              <a:t>Segundo nivel</a:t>
            </a:r>
          </a:p>
          <a:p>
            <a:pPr lvl="2"/>
            <a:r>
              <a:rPr altLang="en-US" lang="es-ES"/>
              <a:t>Tercer nivel</a:t>
            </a:r>
          </a:p>
          <a:p>
            <a:pPr lvl="3"/>
            <a:r>
              <a:rPr altLang="en-US" lang="es-ES"/>
              <a:t>Cuarto nivel</a:t>
            </a:r>
          </a:p>
          <a:p>
            <a:pPr lvl="4"/>
            <a:r>
              <a:rPr altLang="en-US" lang="es-ES"/>
              <a:t>Quinto nivel</a:t>
            </a:r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457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endParaRPr altLang="en-US" sz="1400" lang="es-E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5225"/>
            <a:ext cx="2895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sz="1400" lang="es-E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5225"/>
            <a:ext cx="2133600" cy="4762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s-ES"/>
              <a:pPr algn="r" eaLnBrk="1" hangingPunct="1" lvl="0"/>
            </a:fld>
            <a:endParaRPr altLang="en-US" sz="1400" lang="es-ES"/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sldNum="0"/>
  <p:txStyles>
    <p:titleStyle>
      <a:lvl1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algn="ctr" fontAlgn="base" marL="4572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algn="ctr" fontAlgn="base" marL="9144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algn="ctr" fontAlgn="base" marL="13716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algn="ctr" fontAlgn="base" marL="18288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eaLnBrk="0" fontAlgn="base" hangingPunct="0" indent="-342900" marL="342900" rtl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algn="l" eaLnBrk="0" fontAlgn="base" hangingPunct="0" indent="-285750" marL="742950" rtl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algn="l" eaLnBrk="0" fontAlgn="base" hangingPunct="0" indent="-228600" marL="1143000" rtl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algn="l" eaLnBrk="0" fontAlgn="base" hangingPunct="0" indent="-228600" marL="1600200" rtl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algn="l" eaLnBrk="0" fontAlgn="base" hangingPunct="0" indent="-228600" marL="20574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algn="l" fontAlgn="base" indent="-228600" marL="25146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algn="l" fontAlgn="base" indent="-228600" marL="29718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algn="l" fontAlgn="base" indent="-228600" marL="34290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algn="l" fontAlgn="base" indent="-228600" marL="38862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1" name="Rectangle 2"/>
          <p:cNvSpPr/>
          <p:nvPr>
            <p:ph type="title" sz="full" idx="0"/>
          </p:nvPr>
        </p:nvSpPr>
        <p:spPr>
          <a:xfrm rot="0">
            <a:off x="539750" y="765175"/>
            <a:ext cx="82296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sz="3600" lang="en-GB">
                <a:latin typeface="Comic Sans MS" pitchFamily="66" charset="0"/>
              </a:rPr>
              <a:t>The Gerund</a:t>
            </a:r>
          </a:p>
        </p:txBody>
      </p:sp>
      <p:pic>
        <p:nvPicPr>
          <p:cNvPr id="2097152" name="Picture 3" descr="talking girls"/>
          <p:cNvPicPr>
            <a:picLocks/>
          </p:cNvPicPr>
          <p:nvPr>
            <p:ph type="body" sz="full" idx="1"/>
          </p:nvPr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331912" y="3213100"/>
            <a:ext cx="3816350" cy="2951162"/>
          </a:xfrm>
          <a:prstGeom prst="rect"/>
          <a:noFill/>
          <a:ln>
            <a:noFill/>
          </a:ln>
        </p:spPr>
      </p:pic>
      <p:sp>
        <p:nvSpPr>
          <p:cNvPr id="1048582" name="AutoShape 4"/>
          <p:cNvSpPr/>
          <p:nvPr/>
        </p:nvSpPr>
        <p:spPr>
          <a:xfrm rot="801023">
            <a:off x="5292725" y="2060575"/>
            <a:ext cx="2879725" cy="1800225"/>
          </a:xfrm>
          <a:prstGeom prst="wedgeEllipseCallout">
            <a:avLst>
              <a:gd name="adj1" fmla="val -43750"/>
              <a:gd name="adj2" fmla="val 70000"/>
            </a:avLst>
          </a:prstGeom>
          <a:solidFill>
            <a:schemeClr val="accent1"/>
          </a:solidFill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algn="ctr" eaLnBrk="1" hangingPunct="1" lvl="0"/>
            <a:endParaRPr altLang="en-US" lang="sr-Latn-CS"/>
          </a:p>
        </p:txBody>
      </p:sp>
      <p:sp>
        <p:nvSpPr>
          <p:cNvPr id="1048583" name="Text Box 5"/>
          <p:cNvSpPr txBox="1"/>
          <p:nvPr/>
        </p:nvSpPr>
        <p:spPr>
          <a:xfrm rot="0">
            <a:off x="5580062" y="2205037"/>
            <a:ext cx="2289175" cy="89154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>
              <a:spcBef>
                <a:spcPct val="50000"/>
              </a:spcBef>
            </a:pPr>
            <a:r>
              <a:rPr altLang="en-US" lang="en-GB">
                <a:latin typeface="Comic Sans MS" pitchFamily="66" charset="0"/>
              </a:rPr>
              <a:t>A gerund is the –ing form of a verb. It is used as a noun.</a:t>
            </a:r>
          </a:p>
        </p:txBody>
      </p:sp>
    </p:spTree>
  </p:cSld>
  <p:clrMapOvr>
    <a:masterClrMapping/>
  </p:clrMapOvr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6" name="Rectangle 2"/>
          <p:cNvSpPr/>
          <p:nvPr>
            <p:ph type="title" sz="full" idx="0"/>
          </p:nvPr>
        </p:nvSpPr>
        <p:spPr>
          <a:xfrm rot="0">
            <a:off x="457200" y="274637"/>
            <a:ext cx="82296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sz="3200" lang="en-US">
                <a:solidFill>
                  <a:srgbClr val="04053A"/>
                </a:solidFill>
                <a:latin typeface="Comic Sans MS" pitchFamily="66" charset="0"/>
              </a:rPr>
              <a:t>The gerund can be used:</a:t>
            </a:r>
          </a:p>
        </p:txBody>
      </p:sp>
      <p:sp>
        <p:nvSpPr>
          <p:cNvPr id="1048587" name="Rectangle 3"/>
          <p:cNvSpPr/>
          <p:nvPr>
            <p:ph type="body" sz="full" idx="1"/>
          </p:nvPr>
        </p:nvSpPr>
        <p:spPr>
          <a:xfrm rot="0">
            <a:off x="436562" y="1484312"/>
            <a:ext cx="8261350" cy="392588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>
              <a:lnSpc>
                <a:spcPct val="90000"/>
              </a:lnSpc>
            </a:pPr>
            <a:r>
              <a:rPr altLang="en-US" b="1" lang="en-US">
                <a:latin typeface="Comic Sans MS" pitchFamily="66" charset="0"/>
              </a:rPr>
              <a:t>As the subject of a sentence</a:t>
            </a:r>
          </a:p>
          <a:p>
            <a:pPr eaLnBrk="1" hangingPunct="1" lvl="0">
              <a:lnSpc>
                <a:spcPct val="90000"/>
              </a:lnSpc>
              <a:buFontTx/>
              <a:buNone/>
            </a:pPr>
            <a:r>
              <a:rPr altLang="en-US" lang="en-US">
                <a:solidFill>
                  <a:schemeClr val="accent2"/>
                </a:solidFill>
                <a:latin typeface="Comic Sans MS" pitchFamily="66" charset="0"/>
              </a:rPr>
              <a:t>1- Collecting flowers is my hobby.</a:t>
            </a:r>
          </a:p>
          <a:p>
            <a:pPr eaLnBrk="1" hangingPunct="1" lvl="0">
              <a:lnSpc>
                <a:spcPct val="90000"/>
              </a:lnSpc>
              <a:buFontTx/>
              <a:buNone/>
            </a:pPr>
            <a:r>
              <a:rPr altLang="en-US" lang="en-US">
                <a:solidFill>
                  <a:schemeClr val="accent2"/>
                </a:solidFill>
                <a:latin typeface="Comic Sans MS" pitchFamily="66" charset="0"/>
              </a:rPr>
              <a:t>2- Riding horses is fun.</a:t>
            </a:r>
          </a:p>
          <a:p>
            <a:pPr eaLnBrk="1" hangingPunct="1" lvl="0">
              <a:lnSpc>
                <a:spcPct val="90000"/>
              </a:lnSpc>
              <a:buFontTx/>
              <a:buNone/>
            </a:pPr>
            <a:r>
              <a:rPr altLang="en-US" lang="en-US">
                <a:solidFill>
                  <a:schemeClr val="accent2"/>
                </a:solidFill>
                <a:latin typeface="Comic Sans MS" pitchFamily="66" charset="0"/>
              </a:rPr>
              <a:t>3- Coming to class on time is important.</a:t>
            </a:r>
          </a:p>
          <a:p>
            <a:pPr eaLnBrk="1" hangingPunct="1" lvl="0">
              <a:lnSpc>
                <a:spcPct val="90000"/>
              </a:lnSpc>
              <a:buFontTx/>
              <a:buNone/>
            </a:pPr>
            <a:r>
              <a:rPr altLang="en-US" lang="en-US">
                <a:solidFill>
                  <a:schemeClr val="accent2"/>
                </a:solidFill>
                <a:latin typeface="Comic Sans MS" pitchFamily="66" charset="0"/>
              </a:rPr>
              <a:t>4- Getting daily exercise is important.</a:t>
            </a:r>
          </a:p>
          <a:p>
            <a:pPr eaLnBrk="1" hangingPunct="1" lvl="0">
              <a:lnSpc>
                <a:spcPct val="90000"/>
              </a:lnSpc>
              <a:buFontTx/>
              <a:buNone/>
            </a:pPr>
            <a:r>
              <a:rPr altLang="en-US" lang="en-US">
                <a:solidFill>
                  <a:schemeClr val="accent2"/>
                </a:solidFill>
                <a:latin typeface="Comic Sans MS" pitchFamily="66" charset="0"/>
              </a:rPr>
              <a:t>5- Learning a second language takes a long time.</a:t>
            </a:r>
          </a:p>
          <a:p>
            <a:pPr eaLnBrk="1" hangingPunct="1" lvl="0">
              <a:lnSpc>
                <a:spcPct val="90000"/>
              </a:lnSpc>
              <a:buFontTx/>
              <a:buNone/>
            </a:pPr>
            <a:endParaRPr altLang="en-US" lang="en-US">
              <a:solidFill>
                <a:schemeClr val="accent2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8" name="Rectangle 3"/>
          <p:cNvSpPr/>
          <p:nvPr>
            <p:ph type="body" sz="full" idx="1"/>
          </p:nvPr>
        </p:nvSpPr>
        <p:spPr>
          <a:xfrm rot="0">
            <a:off x="419100" y="1600200"/>
            <a:ext cx="8267700" cy="314007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r>
              <a:rPr altLang="en-US" b="1" sz="2800" lang="en-US">
                <a:solidFill>
                  <a:srgbClr val="04053A"/>
                </a:solidFill>
                <a:latin typeface="Comic Sans MS" pitchFamily="66" charset="0"/>
              </a:rPr>
              <a:t>As the object of a sentence</a:t>
            </a:r>
          </a:p>
          <a:p>
            <a:pPr eaLnBrk="1" hangingPunct="1" lvl="0">
              <a:buFontTx/>
              <a:buChar char="-"/>
            </a:pPr>
            <a:r>
              <a:rPr altLang="en-US" lang="en-US">
                <a:solidFill>
                  <a:schemeClr val="accent2"/>
                </a:solidFill>
                <a:latin typeface="Comic Sans MS" pitchFamily="66" charset="0"/>
              </a:rPr>
              <a:t>Verb + gerund</a:t>
            </a:r>
          </a:p>
          <a:p>
            <a:pPr eaLnBrk="1" hangingPunct="1" lvl="0">
              <a:buFontTx/>
              <a:buNone/>
            </a:pPr>
            <a:r>
              <a:rPr altLang="en-US" lang="en-US">
                <a:solidFill>
                  <a:schemeClr val="accent2"/>
                </a:solidFill>
                <a:latin typeface="Comic Sans MS" pitchFamily="66" charset="0"/>
              </a:rPr>
              <a:t>Enjoy      Finish    </a:t>
            </a:r>
            <a:r>
              <a:rPr altLang="en-US" lang="en-US">
                <a:solidFill>
                  <a:schemeClr val="accent2"/>
                </a:solidFill>
                <a:latin typeface="Comic Sans MS" pitchFamily="66" charset="0"/>
              </a:rPr>
              <a:t>S</a:t>
            </a:r>
            <a:r>
              <a:rPr altLang="en-US" lang="en-US">
                <a:solidFill>
                  <a:schemeClr val="accent2"/>
                </a:solidFill>
                <a:latin typeface="Comic Sans MS" pitchFamily="66" charset="0"/>
              </a:rPr>
              <a:t>top      Mind   </a:t>
            </a:r>
            <a:r>
              <a:rPr altLang="en-US" lang="en-US">
                <a:solidFill>
                  <a:schemeClr val="accent2"/>
                </a:solidFill>
                <a:latin typeface="Comic Sans MS" pitchFamily="66" charset="0"/>
              </a:rPr>
              <a:t>P</a:t>
            </a:r>
            <a:r>
              <a:rPr altLang="en-US" lang="en-US">
                <a:solidFill>
                  <a:schemeClr val="accent2"/>
                </a:solidFill>
                <a:latin typeface="Comic Sans MS" pitchFamily="66" charset="0"/>
              </a:rPr>
              <a:t>ostpone</a:t>
            </a:r>
          </a:p>
          <a:p>
            <a:pPr eaLnBrk="1" hangingPunct="1" lvl="0">
              <a:buFontTx/>
              <a:buNone/>
            </a:pPr>
            <a:r>
              <a:rPr altLang="en-US" lang="en-US">
                <a:solidFill>
                  <a:schemeClr val="accent2"/>
                </a:solidFill>
                <a:latin typeface="Comic Sans MS" pitchFamily="66" charset="0"/>
              </a:rPr>
              <a:t>Discuss   Talk about    Think about   Like</a:t>
            </a:r>
          </a:p>
          <a:p>
            <a:pPr eaLnBrk="1" hangingPunct="1" lvl="0">
              <a:buFontTx/>
              <a:buNone/>
            </a:pPr>
            <a:r>
              <a:rPr altLang="en-US" lang="en-US">
                <a:solidFill>
                  <a:schemeClr val="accent2"/>
                </a:solidFill>
                <a:latin typeface="Comic Sans MS" pitchFamily="66" charset="0"/>
              </a:rPr>
              <a:t>Give up    Avoid       Consider     Quit          </a:t>
            </a:r>
          </a:p>
        </p:txBody>
      </p:sp>
    </p:spTree>
  </p:cSld>
  <p:clrMapOvr>
    <a:masterClrMapping/>
  </p:clrMapOvr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9" name="Rectangle 3"/>
          <p:cNvSpPr/>
          <p:nvPr>
            <p:ph type="body" sz="full" idx="1"/>
          </p:nvPr>
        </p:nvSpPr>
        <p:spPr>
          <a:xfrm rot="0">
            <a:off x="457200" y="1600200"/>
            <a:ext cx="8229600" cy="45259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lnSpc>
                <a:spcPct val="90000"/>
              </a:lnSpc>
              <a:buFontTx/>
              <a:buNone/>
            </a:pPr>
            <a:r>
              <a:rPr altLang="en-US" sz="2800" lang="en-US">
                <a:solidFill>
                  <a:srgbClr val="002060"/>
                </a:solidFill>
                <a:latin typeface="Comic Sans MS" pitchFamily="66" charset="0"/>
              </a:rPr>
              <a:t>1- </a:t>
            </a:r>
            <a:r>
              <a:rPr altLang="en-US" lang="en-US">
                <a:solidFill>
                  <a:schemeClr val="accent2"/>
                </a:solidFill>
                <a:latin typeface="Comic Sans MS" pitchFamily="66" charset="0"/>
              </a:rPr>
              <a:t>I enjoy walking in the park.</a:t>
            </a:r>
          </a:p>
          <a:p>
            <a:pPr eaLnBrk="1" hangingPunct="1" indent="0" lvl="0" marL="0">
              <a:lnSpc>
                <a:spcPct val="90000"/>
              </a:lnSpc>
              <a:buFontTx/>
              <a:buNone/>
            </a:pPr>
            <a:r>
              <a:rPr altLang="en-US" lang="en-US">
                <a:solidFill>
                  <a:schemeClr val="accent2"/>
                </a:solidFill>
                <a:latin typeface="Comic Sans MS" pitchFamily="66" charset="0"/>
              </a:rPr>
              <a:t>2- Ali finished studying at midnight.</a:t>
            </a:r>
          </a:p>
          <a:p>
            <a:pPr eaLnBrk="1" hangingPunct="1" indent="0" lvl="0" marL="0">
              <a:lnSpc>
                <a:spcPct val="90000"/>
              </a:lnSpc>
              <a:buFontTx/>
              <a:buNone/>
            </a:pPr>
            <a:r>
              <a:rPr altLang="en-US" lang="en-US">
                <a:solidFill>
                  <a:schemeClr val="accent2"/>
                </a:solidFill>
                <a:latin typeface="Comic Sans MS" pitchFamily="66" charset="0"/>
              </a:rPr>
              <a:t>3- It stopped raining a few minutes ago.</a:t>
            </a:r>
          </a:p>
          <a:p>
            <a:pPr eaLnBrk="1" hangingPunct="1" indent="0" lvl="0" marL="0">
              <a:lnSpc>
                <a:spcPct val="90000"/>
              </a:lnSpc>
              <a:buFontTx/>
              <a:buNone/>
            </a:pPr>
            <a:r>
              <a:rPr altLang="en-US" lang="en-US">
                <a:solidFill>
                  <a:schemeClr val="accent2"/>
                </a:solidFill>
                <a:latin typeface="Comic Sans MS" pitchFamily="66" charset="0"/>
              </a:rPr>
              <a:t>4- Sam quit smoking.</a:t>
            </a:r>
          </a:p>
          <a:p>
            <a:pPr eaLnBrk="1" hangingPunct="1" indent="0" lvl="0" marL="0">
              <a:lnSpc>
                <a:spcPct val="90000"/>
              </a:lnSpc>
              <a:buFontTx/>
              <a:buNone/>
            </a:pPr>
            <a:r>
              <a:rPr altLang="en-US" lang="en-US">
                <a:solidFill>
                  <a:schemeClr val="accent2"/>
                </a:solidFill>
                <a:latin typeface="Comic Sans MS" pitchFamily="66" charset="0"/>
              </a:rPr>
              <a:t>5- Would you mind opening the window?</a:t>
            </a:r>
          </a:p>
          <a:p>
            <a:pPr eaLnBrk="1" hangingPunct="1" indent="0" lvl="0" marL="0">
              <a:lnSpc>
                <a:spcPct val="90000"/>
              </a:lnSpc>
              <a:buFontTx/>
              <a:buNone/>
            </a:pPr>
            <a:r>
              <a:rPr altLang="en-US" lang="en-US">
                <a:solidFill>
                  <a:schemeClr val="accent2"/>
                </a:solidFill>
                <a:latin typeface="Comic Sans MS" pitchFamily="66" charset="0"/>
              </a:rPr>
              <a:t>6- I am thinking about going to Aden.</a:t>
            </a:r>
          </a:p>
          <a:p>
            <a:pPr eaLnBrk="1" hangingPunct="1" indent="0" lvl="0" marL="0">
              <a:lnSpc>
                <a:spcPct val="90000"/>
              </a:lnSpc>
              <a:buFontTx/>
              <a:buNone/>
            </a:pPr>
            <a:r>
              <a:rPr altLang="en-US" lang="en-US">
                <a:solidFill>
                  <a:schemeClr val="accent2"/>
                </a:solidFill>
                <a:latin typeface="Comic Sans MS" pitchFamily="66" charset="0"/>
              </a:rPr>
              <a:t>7- They discussed getting a new car.</a:t>
            </a:r>
          </a:p>
          <a:p>
            <a:pPr eaLnBrk="1" hangingPunct="1" indent="0" lvl="0" marL="0">
              <a:lnSpc>
                <a:spcPct val="90000"/>
              </a:lnSpc>
              <a:buFontTx/>
              <a:buNone/>
            </a:pPr>
            <a:r>
              <a:rPr altLang="en-US" lang="en-US">
                <a:solidFill>
                  <a:schemeClr val="accent2"/>
                </a:solidFill>
                <a:latin typeface="Comic Sans MS" pitchFamily="66" charset="0"/>
              </a:rPr>
              <a:t>8- I like collecting flowers</a:t>
            </a:r>
            <a:r>
              <a:rPr altLang="en-US" sz="2800" lang="en-US">
                <a:solidFill>
                  <a:srgbClr val="002060"/>
                </a:solidFill>
                <a:latin typeface="Comic Sans MS" pitchFamily="66" charset="0"/>
              </a:rPr>
              <a:t>.</a:t>
            </a:r>
          </a:p>
        </p:txBody>
      </p:sp>
    </p:spTree>
  </p:cSld>
  <p:clrMapOvr>
    <a:masterClrMapping/>
  </p:clrMapOvr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0" name="Rectangle 3"/>
          <p:cNvSpPr/>
          <p:nvPr>
            <p:ph type="body" sz="full" idx="1"/>
          </p:nvPr>
        </p:nvSpPr>
        <p:spPr>
          <a:xfrm rot="0">
            <a:off x="468312" y="1600200"/>
            <a:ext cx="8218487" cy="38449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buFontTx/>
              <a:buNone/>
            </a:pPr>
            <a:r>
              <a:rPr altLang="en-US" b="1" lang="en-US">
                <a:latin typeface="Comic Sans MS" pitchFamily="66" charset="0"/>
              </a:rPr>
              <a:t>VERBS + INFINITIVES</a:t>
            </a:r>
          </a:p>
          <a:p>
            <a:pPr eaLnBrk="1" hangingPunct="1" indent="0" lvl="0" marL="0">
              <a:buFontTx/>
              <a:buChar char="-"/>
            </a:pPr>
            <a:r>
              <a:rPr altLang="en-US" sz="2800" lang="en-US">
                <a:solidFill>
                  <a:schemeClr val="accent2"/>
                </a:solidFill>
                <a:latin typeface="Comic Sans MS" pitchFamily="66" charset="0"/>
              </a:rPr>
              <a:t>COMMON VERBS FOLLOWED </a:t>
            </a:r>
            <a:r>
              <a:rPr altLang="en-US" sz="2800" lang="en-US">
                <a:solidFill>
                  <a:schemeClr val="accent2"/>
                </a:solidFill>
                <a:latin typeface="Comic Sans MS" pitchFamily="66" charset="0"/>
              </a:rPr>
              <a:t>BY</a:t>
            </a:r>
            <a:r>
              <a:rPr altLang="en-US" sz="2800" lang="en-US">
                <a:solidFill>
                  <a:schemeClr val="accent2"/>
                </a:solidFill>
                <a:latin typeface="Comic Sans MS" pitchFamily="66" charset="0"/>
              </a:rPr>
              <a:t> INFINITIVES:</a:t>
            </a:r>
          </a:p>
          <a:p>
            <a:pPr eaLnBrk="1" hangingPunct="1" indent="0" lvl="0" marL="0">
              <a:buFontTx/>
              <a:buChar char="-"/>
            </a:pPr>
            <a:r>
              <a:rPr altLang="en-US" sz="2800" lang="en-US">
                <a:solidFill>
                  <a:schemeClr val="accent2"/>
                </a:solidFill>
                <a:latin typeface="Comic Sans MS" pitchFamily="66" charset="0"/>
              </a:rPr>
              <a:t>Want      Need    Hope    Except       Plan</a:t>
            </a:r>
          </a:p>
          <a:p>
            <a:pPr eaLnBrk="1" hangingPunct="1" indent="0" lvl="0" marL="0">
              <a:buFontTx/>
              <a:buChar char="-"/>
            </a:pPr>
            <a:r>
              <a:rPr altLang="en-US" sz="2800" lang="en-US">
                <a:solidFill>
                  <a:schemeClr val="accent2"/>
                </a:solidFill>
                <a:latin typeface="Comic Sans MS" pitchFamily="66" charset="0"/>
              </a:rPr>
              <a:t>Decide    Mean    Promise  Seem     Agree</a:t>
            </a:r>
          </a:p>
          <a:p>
            <a:pPr eaLnBrk="1" hangingPunct="1" indent="0" lvl="0" marL="0">
              <a:buFontTx/>
              <a:buChar char="-"/>
            </a:pPr>
            <a:r>
              <a:rPr altLang="en-US" sz="2800" lang="en-US">
                <a:solidFill>
                  <a:schemeClr val="accent2"/>
                </a:solidFill>
                <a:latin typeface="Comic Sans MS" pitchFamily="66" charset="0"/>
              </a:rPr>
              <a:t>Forget     Refuse   Appear    Pretend    Try</a:t>
            </a:r>
          </a:p>
          <a:p>
            <a:pPr eaLnBrk="1" hangingPunct="1" indent="0" lvl="0" marL="0">
              <a:buFontTx/>
              <a:buChar char="-"/>
            </a:pPr>
            <a:r>
              <a:rPr altLang="en-US" sz="2800" lang="en-US">
                <a:solidFill>
                  <a:schemeClr val="accent2"/>
                </a:solidFill>
                <a:latin typeface="Comic Sans MS" pitchFamily="66" charset="0"/>
              </a:rPr>
              <a:t> </a:t>
            </a:r>
            <a:r>
              <a:rPr altLang="en-US" sz="2800" lang="en-US">
                <a:solidFill>
                  <a:schemeClr val="accent2"/>
                </a:solidFill>
                <a:latin typeface="Comic Sans MS" pitchFamily="66" charset="0"/>
              </a:rPr>
              <a:t>Offer </a:t>
            </a:r>
          </a:p>
          <a:p>
            <a:pPr eaLnBrk="1" hangingPunct="1" indent="0" lvl="0" marL="0">
              <a:buFontTx/>
              <a:buChar char="-"/>
            </a:pPr>
            <a:endParaRPr altLang="en-US" lang="en-US">
              <a:solidFill>
                <a:schemeClr val="accent2"/>
              </a:solidFill>
              <a:latin typeface="Comic Sans MS" pitchFamily="66" charset="0"/>
            </a:endParaRPr>
          </a:p>
          <a:p>
            <a:pPr eaLnBrk="1" hangingPunct="1" indent="0" lvl="0" marL="0">
              <a:buFontTx/>
              <a:buChar char="-"/>
            </a:pPr>
            <a:endParaRPr altLang="en-US" lang="en-US">
              <a:solidFill>
                <a:schemeClr val="accent2"/>
              </a:solidFill>
              <a:latin typeface="Comic Sans MS" pitchFamily="66" charset="0"/>
            </a:endParaRPr>
          </a:p>
          <a:p>
            <a:pPr eaLnBrk="1" hangingPunct="1" indent="0" lvl="0" marL="0">
              <a:buFontTx/>
              <a:buNone/>
            </a:pPr>
            <a:endParaRPr altLang="en-US" lang="en-US">
              <a:solidFill>
                <a:schemeClr val="accent2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1" name="Content Placeholder 2"/>
          <p:cNvSpPr/>
          <p:nvPr>
            <p:ph sz="full" idx="1"/>
          </p:nvPr>
        </p:nvSpPr>
        <p:spPr>
          <a:xfrm rot="0">
            <a:off x="457200" y="1600200"/>
            <a:ext cx="8229600" cy="45259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lvl="0"/>
            <a:r>
              <a:rPr altLang="en-US" b="1" lang="en-US">
                <a:latin typeface="Comic Sans MS" pitchFamily="66" charset="0"/>
              </a:rPr>
              <a:t>GO   +   -ING</a:t>
            </a:r>
          </a:p>
          <a:p>
            <a:pPr lvl="0">
              <a:buFontTx/>
              <a:buChar char="-"/>
            </a:pPr>
            <a:r>
              <a:rPr altLang="en-US" sz="2800" lang="en-US">
                <a:solidFill>
                  <a:srgbClr val="7030A0"/>
                </a:solidFill>
                <a:latin typeface="Comic Sans MS" pitchFamily="66" charset="0"/>
              </a:rPr>
              <a:t>GO is followed by a gerund in certain idiomatic expressions about activities:</a:t>
            </a:r>
          </a:p>
          <a:p>
            <a:pPr lvl="0">
              <a:buFontTx/>
              <a:buNone/>
            </a:pPr>
            <a:r>
              <a:rPr altLang="en-US" sz="2800" lang="en-US">
                <a:solidFill>
                  <a:srgbClr val="7030A0"/>
                </a:solidFill>
                <a:latin typeface="Comic Sans MS" pitchFamily="66" charset="0"/>
              </a:rPr>
              <a:t>1- Did you go shopping yesterday?</a:t>
            </a:r>
          </a:p>
          <a:p>
            <a:pPr lvl="0">
              <a:buFontTx/>
              <a:buNone/>
            </a:pPr>
            <a:r>
              <a:rPr altLang="en-US" sz="2800" lang="en-US">
                <a:solidFill>
                  <a:srgbClr val="7030A0"/>
                </a:solidFill>
                <a:latin typeface="Comic Sans MS" pitchFamily="66" charset="0"/>
              </a:rPr>
              <a:t>2- I went swimming last week.</a:t>
            </a:r>
          </a:p>
          <a:p>
            <a:pPr lvl="0">
              <a:buFontTx/>
              <a:buNone/>
            </a:pPr>
            <a:r>
              <a:rPr altLang="en-US" sz="2800" lang="en-US">
                <a:solidFill>
                  <a:srgbClr val="7030A0"/>
                </a:solidFill>
                <a:latin typeface="Comic Sans MS" pitchFamily="66" charset="0"/>
              </a:rPr>
              <a:t>3- Sam hasn’t gone fishing in years.</a:t>
            </a:r>
          </a:p>
          <a:p>
            <a:pPr lvl="0">
              <a:buFontTx/>
              <a:buNone/>
            </a:pPr>
            <a:r>
              <a:rPr altLang="en-US" sz="2800" lang="en-US">
                <a:solidFill>
                  <a:srgbClr val="7030A0"/>
                </a:solidFill>
                <a:latin typeface="Comic Sans MS" pitchFamily="66" charset="0"/>
              </a:rPr>
              <a:t>4- Adam went camping.</a:t>
            </a:r>
          </a:p>
          <a:p>
            <a:pPr lvl="0">
              <a:buFontTx/>
              <a:buNone/>
            </a:pPr>
            <a:r>
              <a:rPr altLang="en-US" sz="2800" lang="en-US">
                <a:solidFill>
                  <a:srgbClr val="7030A0"/>
                </a:solidFill>
                <a:latin typeface="Comic Sans MS" pitchFamily="66" charset="0"/>
              </a:rPr>
              <a:t>5-Joe likes to go hiking.</a:t>
            </a:r>
          </a:p>
          <a:p>
            <a:pPr lvl="0">
              <a:buFontTx/>
              <a:buChar char="-"/>
            </a:pPr>
            <a:endParaRPr altLang="en-US" lang="sr-Latn-CS">
              <a:solidFill>
                <a:srgbClr val="7030A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2" name="Rectangle 3"/>
          <p:cNvSpPr/>
          <p:nvPr>
            <p:ph type="body" sz="full" idx="1"/>
          </p:nvPr>
        </p:nvSpPr>
        <p:spPr>
          <a:xfrm rot="0">
            <a:off x="457200" y="1600200"/>
            <a:ext cx="8229600" cy="45259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lvl="0"/>
            <a:r>
              <a:rPr altLang="en-US" b="1" sz="2800" lang="en-US">
                <a:solidFill>
                  <a:srgbClr val="04053A"/>
                </a:solidFill>
                <a:latin typeface="Comic Sans MS" pitchFamily="66" charset="0"/>
              </a:rPr>
              <a:t>PREPOSITION    +  GERUND</a:t>
            </a:r>
          </a:p>
          <a:p>
            <a:pPr eaLnBrk="1" hangingPunct="1" lvl="0">
              <a:buFontTx/>
              <a:buChar char="-"/>
            </a:pPr>
            <a:r>
              <a:rPr altLang="en-US" sz="2800" lang="en-US">
                <a:solidFill>
                  <a:srgbClr val="04053A"/>
                </a:solidFill>
                <a:latin typeface="Comic Sans MS" pitchFamily="66" charset="0"/>
              </a:rPr>
              <a:t>A preposition is followed by a gerund, not an infinitive.</a:t>
            </a:r>
          </a:p>
          <a:p>
            <a:pPr eaLnBrk="1" hangingPunct="1" lvl="0">
              <a:buFontTx/>
              <a:buNone/>
            </a:pPr>
            <a:r>
              <a:rPr altLang="en-US" sz="2800" lang="en-US">
                <a:solidFill>
                  <a:srgbClr val="04053A"/>
                </a:solidFill>
                <a:latin typeface="Comic Sans MS" pitchFamily="66" charset="0"/>
              </a:rPr>
              <a:t>1- Sam insisted on coming with us.</a:t>
            </a:r>
          </a:p>
          <a:p>
            <a:pPr eaLnBrk="1" hangingPunct="1" lvl="0">
              <a:buFontTx/>
              <a:buNone/>
            </a:pPr>
            <a:r>
              <a:rPr altLang="en-US" sz="2800" lang="en-US">
                <a:solidFill>
                  <a:srgbClr val="04053A"/>
                </a:solidFill>
                <a:latin typeface="Comic Sans MS" pitchFamily="66" charset="0"/>
              </a:rPr>
              <a:t>2- We’re excited about going to Alex.</a:t>
            </a:r>
          </a:p>
          <a:p>
            <a:pPr eaLnBrk="1" hangingPunct="1" lvl="0">
              <a:buFontTx/>
              <a:buNone/>
            </a:pPr>
            <a:r>
              <a:rPr altLang="en-US" sz="2800" lang="en-US">
                <a:solidFill>
                  <a:srgbClr val="04053A"/>
                </a:solidFill>
                <a:latin typeface="Comic Sans MS" pitchFamily="66" charset="0"/>
              </a:rPr>
              <a:t>3- I apologized for being late.</a:t>
            </a:r>
          </a:p>
          <a:p>
            <a:pPr eaLnBrk="1" hangingPunct="1" lvl="0">
              <a:buFontTx/>
              <a:buNone/>
            </a:pPr>
            <a:r>
              <a:rPr altLang="en-US" sz="2800" lang="en-US">
                <a:solidFill>
                  <a:srgbClr val="04053A"/>
                </a:solidFill>
                <a:latin typeface="Comic Sans MS" pitchFamily="66" charset="0"/>
              </a:rPr>
              <a:t>4- They are crazy about discovering ancient cities.</a:t>
            </a:r>
          </a:p>
          <a:p>
            <a:pPr eaLnBrk="1" hangingPunct="1" lvl="0">
              <a:buFontTx/>
              <a:buNone/>
            </a:pPr>
            <a:r>
              <a:rPr altLang="en-US" sz="2800" lang="en-US">
                <a:solidFill>
                  <a:srgbClr val="04053A"/>
                </a:solidFill>
                <a:latin typeface="Comic Sans MS" pitchFamily="66" charset="0"/>
              </a:rPr>
              <a:t>5- They are tired of digging in the sand.</a:t>
            </a:r>
          </a:p>
        </p:txBody>
      </p:sp>
    </p:spTree>
  </p:cSld>
  <p:clrMapOvr>
    <a:masterClrMapping/>
  </p:clrMapOvr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3" name="Rectangle 2"/>
          <p:cNvSpPr/>
          <p:nvPr>
            <p:ph type="title" sz="full" idx="0"/>
          </p:nvPr>
        </p:nvSpPr>
        <p:spPr>
          <a:xfrm rot="0">
            <a:off x="395287" y="134937"/>
            <a:ext cx="8229600" cy="1268412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</a:lstStyle>
          <a:p>
            <a:pPr eaLnBrk="1" hangingPunct="1" indent="-342900" lvl="0" marL="342900">
              <a:spcBef>
                <a:spcPct val="20000"/>
              </a:spcBef>
            </a:pPr>
            <a:br>
              <a:rPr altLang="en-US" sz="2800" lang="en-US">
                <a:solidFill>
                  <a:srgbClr val="04053A"/>
                </a:solidFill>
                <a:latin typeface="Comic Sans MS" pitchFamily="66" charset="0"/>
              </a:rPr>
            </a:br>
            <a:r>
              <a:rPr altLang="en-US" sz="2800" lang="en-US">
                <a:solidFill>
                  <a:srgbClr val="04053A"/>
                </a:solidFill>
                <a:latin typeface="Comic Sans MS" pitchFamily="66" charset="0"/>
              </a:rPr>
              <a:t>COMMON </a:t>
            </a:r>
            <a:r>
              <a:rPr altLang="en-US" sz="2800" lang="en-US">
                <a:solidFill>
                  <a:srgbClr val="04053A"/>
                </a:solidFill>
                <a:latin typeface="Comic Sans MS" pitchFamily="66" charset="0"/>
              </a:rPr>
              <a:t>EXPRESSIONS WITH PREPOSITIONS FOLLOWED BY GERUNDS</a:t>
            </a:r>
            <a:br>
              <a:rPr altLang="en-US" sz="2800" lang="en-US">
                <a:solidFill>
                  <a:srgbClr val="04053A"/>
                </a:solidFill>
                <a:latin typeface="Comic Sans MS" pitchFamily="66" charset="0"/>
              </a:rPr>
            </a:br>
            <a:endParaRPr altLang="en-US" sz="3200" lang="en-US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048594" name="Rectangle 3"/>
          <p:cNvSpPr/>
          <p:nvPr>
            <p:ph type="body" sz="full" idx="1"/>
          </p:nvPr>
        </p:nvSpPr>
        <p:spPr>
          <a:xfrm rot="0">
            <a:off x="457200" y="1600200"/>
            <a:ext cx="8229600" cy="45259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buFontTx/>
              <a:buNone/>
            </a:pPr>
            <a:r>
              <a:rPr altLang="en-US" sz="2800" lang="en-US">
                <a:solidFill>
                  <a:srgbClr val="04053A"/>
                </a:solidFill>
                <a:latin typeface="Comic Sans MS" pitchFamily="66" charset="0"/>
              </a:rPr>
              <a:t>Be afraid of(doing something)      </a:t>
            </a:r>
          </a:p>
          <a:p>
            <a:pPr eaLnBrk="1" hangingPunct="1" indent="0" lvl="0" marL="0">
              <a:buFontTx/>
              <a:buNone/>
            </a:pPr>
            <a:r>
              <a:rPr altLang="en-US" sz="2800" lang="en-US">
                <a:solidFill>
                  <a:srgbClr val="04053A"/>
                </a:solidFill>
                <a:latin typeface="Comic Sans MS" pitchFamily="66" charset="0"/>
              </a:rPr>
              <a:t>forgive (someone) for       plan on</a:t>
            </a:r>
          </a:p>
          <a:p>
            <a:pPr eaLnBrk="1" hangingPunct="1" indent="0" lvl="0" marL="0">
              <a:buFontTx/>
              <a:buNone/>
            </a:pPr>
            <a:r>
              <a:rPr altLang="en-US" sz="2800" lang="en-US">
                <a:solidFill>
                  <a:srgbClr val="04053A"/>
                </a:solidFill>
                <a:latin typeface="Comic Sans MS" pitchFamily="66" charset="0"/>
              </a:rPr>
              <a:t>Believe in     be good at     be responsible for    </a:t>
            </a:r>
          </a:p>
          <a:p>
            <a:pPr eaLnBrk="1" hangingPunct="1" indent="0" lvl="0" marL="0">
              <a:buFontTx/>
              <a:buNone/>
            </a:pPr>
            <a:r>
              <a:rPr altLang="en-US" sz="2800" lang="en-US">
                <a:solidFill>
                  <a:srgbClr val="04053A"/>
                </a:solidFill>
                <a:latin typeface="Comic Sans MS" pitchFamily="66" charset="0"/>
              </a:rPr>
              <a:t>Insist on      be interested in    stop (someone)  from</a:t>
            </a:r>
          </a:p>
          <a:p>
            <a:pPr eaLnBrk="1" hangingPunct="1" indent="0" lvl="0" marL="0">
              <a:buFontTx/>
              <a:buNone/>
            </a:pPr>
            <a:r>
              <a:rPr altLang="en-US" sz="2800" lang="en-US">
                <a:solidFill>
                  <a:srgbClr val="04053A"/>
                </a:solidFill>
                <a:latin typeface="Comic Sans MS" pitchFamily="66" charset="0"/>
              </a:rPr>
              <a:t>Dream about      look forward to       be tired of</a:t>
            </a:r>
          </a:p>
          <a:p>
            <a:pPr eaLnBrk="1" hangingPunct="1" indent="0" lvl="0" marL="0">
              <a:buFontTx/>
              <a:buNone/>
            </a:pPr>
            <a:r>
              <a:rPr altLang="en-US" sz="2800" lang="en-US">
                <a:solidFill>
                  <a:srgbClr val="04053A"/>
                </a:solidFill>
                <a:latin typeface="Comic Sans MS" pitchFamily="66" charset="0"/>
              </a:rPr>
              <a:t>Thank (someone)  for      worry about    be excited about</a:t>
            </a:r>
          </a:p>
          <a:p>
            <a:pPr eaLnBrk="1" hangingPunct="1" indent="0" lvl="0" marL="0">
              <a:buFontTx/>
              <a:buNone/>
            </a:pPr>
            <a:r>
              <a:rPr altLang="en-US" sz="2800" lang="en-US">
                <a:solidFill>
                  <a:srgbClr val="04053A"/>
                </a:solidFill>
                <a:latin typeface="Comic Sans MS" pitchFamily="66" charset="0"/>
              </a:rPr>
              <a:t>Be bad at         be nervous about</a:t>
            </a:r>
          </a:p>
        </p:txBody>
      </p:sp>
    </p:spTree>
  </p:cSld>
  <p:clrMapOvr>
    <a:masterClrMapping/>
  </p:clrMapOvr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5" name="Rectangle 2"/>
          <p:cNvSpPr/>
          <p:nvPr>
            <p:ph type="title" sz="full" idx="0"/>
          </p:nvPr>
        </p:nvSpPr>
        <p:spPr>
          <a:xfrm rot="0">
            <a:off x="457200" y="274637"/>
            <a:ext cx="82296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lt2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</a:lstStyle>
          <a:p>
            <a:pPr eaLnBrk="1" hangingPunct="1" lvl="0"/>
            <a:r>
              <a:rPr altLang="en-US" sz="3200" lang="en-GB">
                <a:solidFill>
                  <a:srgbClr val="002060"/>
                </a:solidFill>
                <a:latin typeface="Comic Sans MS" pitchFamily="66" charset="0"/>
              </a:rPr>
              <a:t>The Gerund as adjective</a:t>
            </a:r>
          </a:p>
        </p:txBody>
      </p:sp>
      <p:sp>
        <p:nvSpPr>
          <p:cNvPr id="1048596" name="Rectangle 3"/>
          <p:cNvSpPr/>
          <p:nvPr>
            <p:ph type="body" sz="full" idx="1"/>
          </p:nvPr>
        </p:nvSpPr>
        <p:spPr>
          <a:xfrm rot="0">
            <a:off x="457200" y="1600200"/>
            <a:ext cx="8229600" cy="45259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Arial" pitchFamily="0" charset="0"/>
                <a:ea typeface="Arial" pitchFamily="0" charset="0"/>
                <a:sym typeface="Arial" pitchFamily="0" charset="0"/>
              </a:defRPr>
            </a:lvl5pPr>
          </a:lstStyle>
          <a:p>
            <a:pPr eaLnBrk="1" hangingPunct="1" indent="0" lvl="0" marL="0">
              <a:buFontTx/>
              <a:buNone/>
            </a:pPr>
            <a:r>
              <a:rPr altLang="en-US" lang="en-GB">
                <a:solidFill>
                  <a:srgbClr val="04053A"/>
                </a:solidFill>
                <a:latin typeface="Comic Sans MS" pitchFamily="66" charset="0"/>
              </a:rPr>
              <a:t>1- There is an increasing amount of pollution.</a:t>
            </a:r>
          </a:p>
          <a:p>
            <a:pPr eaLnBrk="1" hangingPunct="1" indent="0" lvl="0" marL="0">
              <a:buFontTx/>
              <a:buNone/>
            </a:pPr>
            <a:r>
              <a:rPr altLang="en-US" lang="en-GB">
                <a:solidFill>
                  <a:srgbClr val="04053A"/>
                </a:solidFill>
                <a:latin typeface="Comic Sans MS" pitchFamily="66" charset="0"/>
              </a:rPr>
              <a:t>2- This is a very exciting idea.</a:t>
            </a:r>
          </a:p>
          <a:p>
            <a:pPr eaLnBrk="1" hangingPunct="1" indent="0" lvl="0" marL="0">
              <a:buFontTx/>
              <a:buNone/>
            </a:pPr>
            <a:r>
              <a:rPr altLang="en-US" lang="en-GB">
                <a:solidFill>
                  <a:srgbClr val="04053A"/>
                </a:solidFill>
                <a:latin typeface="Comic Sans MS" pitchFamily="66" charset="0"/>
              </a:rPr>
              <a:t>3- She received them with a warm welcoming smile.</a:t>
            </a:r>
          </a:p>
          <a:p>
            <a:pPr eaLnBrk="1" hangingPunct="1" indent="0" lvl="0" marL="0">
              <a:buFontTx/>
              <a:buNone/>
            </a:pPr>
            <a:endParaRPr altLang="en-US" sz="2800" lang="en-US">
              <a:solidFill>
                <a:srgbClr val="04053A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/>
</p:sld>
</file>

<file path=ppt/theme/theme1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808080"/>
      </a:dk2>
      <a:lt2>
        <a:srgbClr val="00000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000000"/>
        </a:dk1>
        <a:lt1>
          <a:srgbClr val="FFFFFF"/>
        </a:lt1>
        <a:dk2>
          <a:srgbClr val="808080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</a:extraClrScheme>
    <a:extraClrScheme>
      <a:clrScheme name="Default Color Scheme 2">
        <a:dk1>
          <a:srgbClr val="000000"/>
        </a:dk1>
        <a:lt1>
          <a:srgbClr val="FFFFFF"/>
        </a:lt1>
        <a:dk2>
          <a:srgbClr val="969696"/>
        </a:dk2>
        <a:lt2>
          <a:srgbClr val="000000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</a:extraClrScheme>
    <a:extraClrScheme>
      <a:clrScheme name="Default Color Scheme 3">
        <a:dk1>
          <a:srgbClr val="000000"/>
        </a:dk1>
        <a:lt1>
          <a:srgbClr val="FFFFFF"/>
        </a:lt1>
        <a:dk2>
          <a:srgbClr val="808080"/>
        </a:dk2>
        <a:lt2>
          <a:srgbClr val="00000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</a:extraClrScheme>
    <a:extraClrScheme>
      <a:clrScheme name="Default Color Scheme 4">
        <a:dk1>
          <a:srgbClr val="000000"/>
        </a:dk1>
        <a:lt1>
          <a:srgbClr val="DEF6F1"/>
        </a:lt1>
        <a:dk2>
          <a:srgbClr val="969696"/>
        </a:dk2>
        <a:lt2>
          <a:srgbClr val="000000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</a:extraClrScheme>
    <a:extraClrScheme>
      <a:clrScheme name="Default Color Scheme 5">
        <a:dk1>
          <a:srgbClr val="000000"/>
        </a:dk1>
        <a:lt1>
          <a:srgbClr val="FFFFD9"/>
        </a:lt1>
        <a:dk2>
          <a:srgbClr val="777777"/>
        </a:dk2>
        <a:lt2>
          <a:srgbClr val="000000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</a:extraClrScheme>
    <a:extraClrScheme>
      <a:clrScheme name="Default Color Scheme 6">
        <a:dk1>
          <a:srgbClr val="FFFFFF"/>
        </a:dk1>
        <a:lt1>
          <a:srgbClr val="008080"/>
        </a:lt1>
        <a:dk2>
          <a:srgbClr val="005A58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</a:extraClrScheme>
    <a:extraClrScheme>
      <a:clrScheme name="Default Color Scheme 7">
        <a:dk1>
          <a:srgbClr val="FFFFFF"/>
        </a:dk1>
        <a:lt1>
          <a:srgbClr val="800000"/>
        </a:lt1>
        <a:dk2>
          <a:srgbClr val="5C1F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</a:extraClrScheme>
    <a:extraClrScheme>
      <a:clrScheme name="Default Color Scheme 8">
        <a:dk1>
          <a:srgbClr val="FFFFFF"/>
        </a:dk1>
        <a:lt1>
          <a:srgbClr val="000099"/>
        </a:lt1>
        <a:dk2>
          <a:srgbClr val="003366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</a:extraClrScheme>
    <a:extraClrScheme>
      <a:clrScheme name="Default Color Scheme 9">
        <a:dk1>
          <a:srgbClr val="FFFFFF"/>
        </a:dk1>
        <a:lt1>
          <a:srgbClr val="000000"/>
        </a:lt1>
        <a:dk2>
          <a:srgbClr val="336699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</a:extraClrScheme>
    <a:extraClrScheme>
      <a:clrScheme name="Default Color Scheme 10">
        <a:dk1>
          <a:srgbClr val="FFFFFF"/>
        </a:dk1>
        <a:lt1>
          <a:srgbClr val="686B5D"/>
        </a:lt1>
        <a:dk2>
          <a:srgbClr val="777777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</a:extraClrScheme>
    <a:extraClrScheme>
      <a:clrScheme name="Default Color Scheme 11">
        <a:dk1>
          <a:srgbClr val="FFFFFF"/>
        </a:dk1>
        <a:lt1>
          <a:srgbClr val="666699"/>
        </a:lt1>
        <a:dk2>
          <a:srgbClr val="3E3E5C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</a:extraClrScheme>
    <a:extraClrScheme>
      <a:clrScheme name="Default Color Scheme 12">
        <a:dk1>
          <a:srgbClr val="FFFFFF"/>
        </a:dk1>
        <a:lt1>
          <a:srgbClr val="523E26"/>
        </a:lt1>
        <a:dk2>
          <a:srgbClr val="2D2015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Relative clauses</dc:title>
  <dc:creator>My PC</dc:creator>
  <cp:lastModifiedBy>Successor</cp:lastModifiedBy>
  <dcterms:created xsi:type="dcterms:W3CDTF">2010-12-19T05:40:26Z</dcterms:created>
  <dcterms:modified xsi:type="dcterms:W3CDTF">2026-09-05T14:31:57Z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3e5d069007c14c71accf935b0a5e76d8_23</vt:lpwstr>
  </property>
</Properties>
</file>